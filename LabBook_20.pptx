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2"/>
  </p:notesMasterIdLst>
  <p:handoutMasterIdLst>
    <p:handoutMasterId r:id="rId33"/>
  </p:handoutMasterIdLst>
  <p:sldIdLst>
    <p:sldId id="256" r:id="rId5"/>
    <p:sldId id="289" r:id="rId6"/>
    <p:sldId id="295" r:id="rId7"/>
    <p:sldId id="304" r:id="rId8"/>
    <p:sldId id="302" r:id="rId9"/>
    <p:sldId id="303" r:id="rId10"/>
    <p:sldId id="305" r:id="rId11"/>
    <p:sldId id="306" r:id="rId12"/>
    <p:sldId id="307" r:id="rId13"/>
    <p:sldId id="291" r:id="rId14"/>
    <p:sldId id="296" r:id="rId15"/>
    <p:sldId id="293" r:id="rId16"/>
    <p:sldId id="294" r:id="rId17"/>
    <p:sldId id="309" r:id="rId18"/>
    <p:sldId id="310" r:id="rId19"/>
    <p:sldId id="299" r:id="rId20"/>
    <p:sldId id="308" r:id="rId21"/>
    <p:sldId id="311" r:id="rId22"/>
    <p:sldId id="290" r:id="rId23"/>
    <p:sldId id="312" r:id="rId24"/>
    <p:sldId id="313" r:id="rId25"/>
    <p:sldId id="314" r:id="rId26"/>
    <p:sldId id="315" r:id="rId27"/>
    <p:sldId id="316" r:id="rId28"/>
    <p:sldId id="317" r:id="rId29"/>
    <p:sldId id="318" r:id="rId30"/>
    <p:sldId id="288" r:id="rId3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FA2EC3-0AD1-42CC-8069-8EC5E2A52C1B}" v="31" dt="2026-05-02T12:18:39.68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38" d="100"/>
          <a:sy n="38" d="100"/>
        </p:scale>
        <p:origin x="654" y="4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EF716-1E89-5EB0-6C6A-5B104B0197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D58B57-C66B-3671-E929-3C1F687FE6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CE3DE5-6509-30A1-1887-4A3630360EA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9EF58D7-7B3C-B73B-ADD2-B5CB9E0D3D7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561013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4623-D36A-2767-CF07-156B5D915E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3F2E14-8C31-BA69-1148-D28DDB10C6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829F69-5A7D-21A3-B454-EFFF8AC732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6520499-E5D8-05E5-8CA8-F40F73157FD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695179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B252F-04D5-7A86-5E34-DF057EF2A9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F754E-33BB-2A16-FDD8-1B51D91A6E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250DD4-6EE3-76C3-C0BE-8AEEA5FCADC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0B17B4-8043-486C-CFBC-7D7802050052}"/>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61917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004AA-25C3-EC4B-A303-4FC2BC82BD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C47232-658F-0810-A1CB-2B41315CE7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0C2A1C-07B5-9E35-C052-6F71085A22C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7E00005-26A6-7F41-7ED5-31F2DC99D59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9978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8176-F454-4224-B19E-153616C2C2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BBC521-B3A3-63A1-C4D5-750828FD52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702755-4D22-6DA7-9CAC-DE3BD00CD2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09F709-BA6B-0FA0-C268-B5BE72679471}"/>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026927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8FF44-D75A-43A8-B6AA-8A278BC5F5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EDE10C-D9A9-DA05-EF4D-29FFCE319E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F64558-88B2-AACC-7CE1-310A801E82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4328F76-31E7-091F-3B20-F8C4C82FD2E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710470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9FDB0-C6C5-0F00-70D8-85D93F7A62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0CE92D-CB21-6F1B-3B2A-F01555C500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1757DE-C089-D895-11E9-98DF430C85D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EEC4206-1E4F-680D-2A4F-D966EBE7B506}"/>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281318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F986-71CB-DDD3-4FF1-003F3F72F2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035EAD-6CD5-D0CE-961F-6B5A9759F9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C3052A-5ACB-3760-5C2D-829485BA4C8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BB15D3F-2E98-B246-BCF6-7A6AC07B79C0}"/>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918197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04F1-4853-804A-ADEB-2F1AFB08BC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2BA28D-E78D-840F-62B2-2198C8B568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B028EE-EA6B-7398-D149-78C8A48E653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6C2A53-810B-1A21-0160-B45A2CCE6F53}"/>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347566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EE13-2CE2-DF0C-A5C9-0AD3CA81D8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E49E11-62C8-D6A5-8E11-FA4FF891CE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57509B-311F-2E1A-4D10-574CC53762A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79E2CC4-3CDB-16E4-FFDA-FBC1A4EB3FB9}"/>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654702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FAB80-B696-9886-0B21-F5B2EBBBEC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892C60-4EB9-A4FB-BFE6-321B47DA639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9BABE2-2245-CD1E-4988-05310D62DAC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6E857CB-A4F2-9E55-823D-2FE2D1045F56}"/>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541498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5BCF-F4F3-D862-FA60-39C9CC930F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C815EA-19C4-7EBE-DA62-B66BAEA9AB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84BA4B-F0D6-69A9-947E-FB37E15F53B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967974E-87EC-915F-10CC-60C73D45D825}"/>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28954339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3AF77-F189-DDB8-F41B-DB614C8FD1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A68E16-A4AA-B630-0A3A-499736FA1C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E155F6-610E-1BFB-351C-F80D2DF154D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BE0515F-37A9-2F21-A76D-20F8F94E26D8}"/>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860052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80.png"/><Relationship Id="rId4" Type="http://schemas.openxmlformats.org/officeDocument/2006/relationships/image" Target="../media/image270.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sv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80.png"/><Relationship Id="rId4" Type="http://schemas.openxmlformats.org/officeDocument/2006/relationships/image" Target="../media/image270.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0.png"/><Relationship Id="rId4" Type="http://schemas.openxmlformats.org/officeDocument/2006/relationships/image" Target="../media/image340.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Antonio Plá Rodríguez i Jaume Giménez Lozano</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32173" y="3687068"/>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la simulación de la sección transversal del acoplador direccional se identificaron varios modos guiados, en concreto 4 (2 TE y 2 TM), con índices efectivos del orden de </a:t>
            </a:r>
            <a:r>
              <a:rPr lang="es-ES" sz="1200" dirty="0" err="1"/>
              <a:t>neff</a:t>
            </a:r>
            <a:r>
              <a:rPr lang="es-ES" sz="1200" dirty="0"/>
              <a:t> ≈ </a:t>
            </a:r>
            <a:r>
              <a:rPr lang="es-ES" sz="1200" b="1" dirty="0"/>
              <a:t>1.60</a:t>
            </a:r>
            <a:r>
              <a:rPr lang="es-ES" sz="1200" dirty="0"/>
              <a:t> para los modos TE y</a:t>
            </a:r>
            <a:r>
              <a:rPr lang="es-ES" sz="1200" b="1" dirty="0"/>
              <a:t> 1.52–1.53 </a:t>
            </a:r>
            <a:r>
              <a:rPr lang="es-ES" sz="1200" dirty="0"/>
              <a:t>para los modos TM lo que indica que los modos fundamentales (en este caso modos TE) están más confinados en el núcleo mientras que los superiores se extienden más hacia el </a:t>
            </a:r>
            <a:r>
              <a:rPr lang="es-ES" sz="1200" dirty="0" err="1"/>
              <a:t>cladding</a:t>
            </a:r>
            <a:r>
              <a:rPr lang="es-ES" sz="1200" dirty="0"/>
              <a:t>. La pequeña parte imaginaria en los valores de </a:t>
            </a:r>
            <a:r>
              <a:rPr lang="es-ES" sz="1200" dirty="0" err="1"/>
              <a:t>neff</a:t>
            </a:r>
            <a:r>
              <a:rPr lang="es-ES" sz="1200" dirty="0"/>
              <a:t> (del orden de 10⁻⁴) representa pérdidas numéricas, siendo mayores en los modos menos confinados, lo cual tiene sentido. En cuanto a la comparación de polarizaciones, los modos TE tienen un </a:t>
            </a:r>
            <a:r>
              <a:rPr lang="es-ES" sz="1200" dirty="0" err="1"/>
              <a:t>neff</a:t>
            </a:r>
            <a:r>
              <a:rPr lang="es-ES" sz="1200" dirty="0"/>
              <a:t> ligeramente mayor que los TM, lo que implica un confinamiento más fuerte debido a que el campo eléctrico está mejor alineado con la geometría de la guía; en cambio, los modos TM tienen más contacto con el </a:t>
            </a:r>
            <a:r>
              <a:rPr lang="es-ES" sz="1200" dirty="0" err="1"/>
              <a:t>cladding</a:t>
            </a:r>
            <a:r>
              <a:rPr lang="es-ES" sz="1200" dirty="0"/>
              <a:t>, reduciendo su </a:t>
            </a:r>
            <a:r>
              <a:rPr lang="es-ES" sz="1200" dirty="0" err="1"/>
              <a:t>neff</a:t>
            </a:r>
            <a:r>
              <a:rPr lang="es-ES" sz="1200" dirty="0"/>
              <a:t>. Esta diferencia se refleja directamente en la longitud de acoplo Lπ, obteniéndose valores mayores para TE (por ejemplo ~90 µm) que para TM (~50 µm), ya que un mayor confinamiento reduce el solapamiento del campo entre guías y, por tanto, debilita el acoplamiento, requiriendo una mayor distancia para transferir completamente la potencia. En conjunto, los resultados muestran que al aumentar el confinamiento (mayor </a:t>
            </a:r>
            <a:r>
              <a:rPr lang="es-ES" sz="1200" dirty="0" err="1"/>
              <a:t>neff</a:t>
            </a:r>
            <a:r>
              <a:rPr lang="es-ES" sz="1200" dirty="0"/>
              <a:t>), disminuye el acoplamiento y aumenta Lπ, mientras que modos menos confinados (menor </a:t>
            </a:r>
            <a:r>
              <a:rPr lang="es-ES" sz="1200" dirty="0" err="1"/>
              <a:t>neff</a:t>
            </a:r>
            <a:r>
              <a:rPr lang="es-ES" sz="1200" dirty="0"/>
              <a:t>, como TM) presentan mayor interacción entre guías y, por tanto, menor longitud de acoplo.</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7161051" y="1418372"/>
            <a:ext cx="4421509" cy="4154984"/>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primer lugar, </a:t>
            </a:r>
            <a:r>
              <a:rPr lang="es-ES" sz="1200" b="1" dirty="0"/>
              <a:t>K</a:t>
            </a:r>
            <a:r>
              <a:rPr lang="es-ES" sz="1200" dirty="0"/>
              <a:t> es el </a:t>
            </a:r>
            <a:r>
              <a:rPr lang="es-ES" sz="1200" b="1" dirty="0"/>
              <a:t>coeficiente de acoplamiento</a:t>
            </a:r>
            <a:r>
              <a:rPr lang="es-ES" sz="1200" dirty="0"/>
              <a:t> del acoplador direccional, básicamente, la fracción de luz que se transmite de una guía a otra. Los resultados muestran claramente el comportamiento oscilatorio de la potencia en un acoplador direccional. Como vemos, la energía se va transfiriendo de una guía a la otra debido a la interferencia entre los modos par e impar de la estructura.</a:t>
            </a:r>
          </a:p>
          <a:p>
            <a:pPr marL="171450" indent="-171450" algn="just">
              <a:buFontTx/>
              <a:buChar char="-"/>
            </a:pPr>
            <a:r>
              <a:rPr lang="es-ES" sz="1200" dirty="0"/>
              <a:t>Se ve que, para conseguir un acoplador de 3 dB (es decir, repartir la potencia al 50%, cuando K = 1/2), la longitud debe ser justo la mitad de la longitud de acoplamiento, </a:t>
            </a:r>
            <a:r>
              <a:rPr lang="es-ES" sz="1200" b="1" dirty="0"/>
              <a:t>L = </a:t>
            </a:r>
            <a:r>
              <a:rPr lang="es-ES" sz="1200" b="1" dirty="0" err="1"/>
              <a:t>L_pi</a:t>
            </a:r>
            <a:r>
              <a:rPr lang="es-ES" sz="1200" b="1" dirty="0"/>
              <a:t>/2 = 46.92 </a:t>
            </a:r>
            <a:r>
              <a:rPr lang="es-ES" sz="1200" b="1" dirty="0" err="1"/>
              <a:t>um</a:t>
            </a:r>
            <a:r>
              <a:rPr lang="es-ES" sz="1200" b="1" dirty="0"/>
              <a:t> </a:t>
            </a:r>
            <a:r>
              <a:rPr lang="es-ES" sz="1200" dirty="0"/>
              <a:t>en modo TE. </a:t>
            </a:r>
          </a:p>
          <a:p>
            <a:pPr marL="171450" indent="-171450" algn="just">
              <a:buFontTx/>
              <a:buChar char="-"/>
            </a:pPr>
            <a:r>
              <a:rPr lang="es-ES" sz="1200" dirty="0"/>
              <a:t>En cambio, si la longitud llega </a:t>
            </a:r>
            <a:r>
              <a:rPr lang="es-ES" sz="1200" b="1" dirty="0"/>
              <a:t>a L = </a:t>
            </a:r>
            <a:r>
              <a:rPr lang="es-ES" sz="1200" b="1" dirty="0" err="1"/>
              <a:t>L_pi</a:t>
            </a:r>
            <a:r>
              <a:rPr lang="es-ES" sz="1200" b="1" dirty="0"/>
              <a:t> = 93.84 </a:t>
            </a:r>
            <a:r>
              <a:rPr lang="es-ES" sz="1200" b="1" dirty="0" err="1"/>
              <a:t>um</a:t>
            </a:r>
            <a:r>
              <a:rPr lang="es-ES" sz="1200" b="1" dirty="0"/>
              <a:t> </a:t>
            </a:r>
            <a:r>
              <a:rPr lang="es-ES" sz="1200" dirty="0"/>
              <a:t>la transferencia es completa y prácticamente toda la potencia pasa a la guía adyacente.</a:t>
            </a:r>
          </a:p>
          <a:p>
            <a:pPr marL="171450" indent="-171450" algn="just">
              <a:buFontTx/>
              <a:buChar char="-"/>
            </a:pPr>
            <a:r>
              <a:rPr lang="es-ES" sz="1200" dirty="0"/>
              <a:t>Si queremos que no haya transferencia de ningún tipo (K = 0), se consigue cuando el sin tiene un valor </a:t>
            </a:r>
            <a:r>
              <a:rPr lang="es-ES" sz="1200" dirty="0" err="1"/>
              <a:t>multiplo</a:t>
            </a:r>
            <a:r>
              <a:rPr lang="es-ES" sz="1200" dirty="0"/>
              <a:t> de pi y para conseguir ese valor L = pi, 2pi, etc.</a:t>
            </a:r>
          </a:p>
          <a:p>
            <a:pPr algn="just"/>
            <a:r>
              <a:rPr lang="es-ES" sz="1200" dirty="0"/>
              <a:t>También es importante notar que el comportamiento depende bastante de la polarización. Como </a:t>
            </a:r>
            <a:r>
              <a:rPr lang="es-ES" sz="1200" b="1" dirty="0" err="1"/>
              <a:t>L_pi_TM</a:t>
            </a:r>
            <a:r>
              <a:rPr lang="es-ES" sz="1200" b="1" dirty="0"/>
              <a:t> </a:t>
            </a:r>
            <a:r>
              <a:rPr lang="es-ES" sz="1200" dirty="0"/>
              <a:t>es menor que </a:t>
            </a:r>
            <a:r>
              <a:rPr lang="es-ES" sz="1200" b="1" dirty="0" err="1"/>
              <a:t>L_pi_TE</a:t>
            </a:r>
            <a:r>
              <a:rPr lang="es-ES" sz="1200" dirty="0"/>
              <a:t>, el modo TM acopla más fuerte, lo que indica que hay mayor solapamiento de los campos evanescentes. Esto implica que un diseño optimizado para una polarización no va a funcionar igual para la otra. </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0" y="1418372"/>
            <a:ext cx="6324759" cy="3720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914561A9-BA40-59C3-9A55-521B81FE9788}"/>
              </a:ext>
            </a:extLst>
          </p:cNvPr>
          <p:cNvPicPr>
            <a:picLocks noChangeAspect="1"/>
          </p:cNvPicPr>
          <p:nvPr/>
        </p:nvPicPr>
        <p:blipFill>
          <a:blip r:embed="rId5"/>
          <a:stretch>
            <a:fillRect/>
          </a:stretch>
        </p:blipFill>
        <p:spPr>
          <a:xfrm>
            <a:off x="757614" y="1456527"/>
            <a:ext cx="5867400" cy="3509006"/>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5029359" cy="46776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362200" y="1405673"/>
            <a:ext cx="1315593" cy="369332"/>
          </a:xfrm>
          <a:prstGeom prst="rect">
            <a:avLst/>
          </a:prstGeom>
          <a:noFill/>
        </p:spPr>
        <p:txBody>
          <a:bodyPr wrap="square" rtlCol="0">
            <a:spAutoFit/>
          </a:bodyPr>
          <a:lstStyle/>
          <a:p>
            <a:pPr algn="ctr"/>
            <a:r>
              <a:rPr lang="en-US" b="1" dirty="0"/>
              <a:t>For 0.2 µm</a:t>
            </a:r>
          </a:p>
        </p:txBody>
      </p:sp>
      <p:pic>
        <p:nvPicPr>
          <p:cNvPr id="5" name="Imagen 4">
            <a:extLst>
              <a:ext uri="{FF2B5EF4-FFF2-40B4-BE49-F238E27FC236}">
                <a16:creationId xmlns:a16="http://schemas.microsoft.com/office/drawing/2014/main" id="{503417C6-7800-D4A9-FC48-90798BB2E3EE}"/>
              </a:ext>
            </a:extLst>
          </p:cNvPr>
          <p:cNvPicPr>
            <a:picLocks noChangeAspect="1"/>
          </p:cNvPicPr>
          <p:nvPr/>
        </p:nvPicPr>
        <p:blipFill>
          <a:blip r:embed="rId4"/>
          <a:stretch>
            <a:fillRect/>
          </a:stretch>
        </p:blipFill>
        <p:spPr>
          <a:xfrm>
            <a:off x="682496" y="1783988"/>
            <a:ext cx="4907012" cy="4235812"/>
          </a:xfrm>
          <a:prstGeom prst="rect">
            <a:avLst/>
          </a:prstGeom>
        </p:spPr>
      </p:pic>
      <p:sp>
        <p:nvSpPr>
          <p:cNvPr id="6" name="Rectángulo 5">
            <a:extLst>
              <a:ext uri="{FF2B5EF4-FFF2-40B4-BE49-F238E27FC236}">
                <a16:creationId xmlns:a16="http://schemas.microsoft.com/office/drawing/2014/main" id="{619386FA-EF1C-94A2-C7C6-D8BD4C2D11E0}"/>
              </a:ext>
            </a:extLst>
          </p:cNvPr>
          <p:cNvSpPr/>
          <p:nvPr/>
        </p:nvSpPr>
        <p:spPr>
          <a:xfrm>
            <a:off x="6019800" y="1420683"/>
            <a:ext cx="5660410" cy="467531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D09C7AE-FBFD-CF1C-966F-F3D194F1028C}"/>
              </a:ext>
            </a:extLst>
          </p:cNvPr>
          <p:cNvSpPr txBox="1"/>
          <p:nvPr/>
        </p:nvSpPr>
        <p:spPr>
          <a:xfrm>
            <a:off x="8177981" y="1407983"/>
            <a:ext cx="1315593" cy="369332"/>
          </a:xfrm>
          <a:prstGeom prst="rect">
            <a:avLst/>
          </a:prstGeom>
          <a:noFill/>
        </p:spPr>
        <p:txBody>
          <a:bodyPr wrap="square" rtlCol="0">
            <a:spAutoFit/>
          </a:bodyPr>
          <a:lstStyle/>
          <a:p>
            <a:pPr algn="ctr"/>
            <a:r>
              <a:rPr lang="en-US" b="1" dirty="0"/>
              <a:t>For 0.4 µm</a:t>
            </a:r>
          </a:p>
        </p:txBody>
      </p:sp>
      <p:pic>
        <p:nvPicPr>
          <p:cNvPr id="12" name="Imagen 11">
            <a:extLst>
              <a:ext uri="{FF2B5EF4-FFF2-40B4-BE49-F238E27FC236}">
                <a16:creationId xmlns:a16="http://schemas.microsoft.com/office/drawing/2014/main" id="{F56BB340-44C0-0454-4442-F1B5E605894D}"/>
              </a:ext>
            </a:extLst>
          </p:cNvPr>
          <p:cNvPicPr>
            <a:picLocks noChangeAspect="1"/>
          </p:cNvPicPr>
          <p:nvPr/>
        </p:nvPicPr>
        <p:blipFill>
          <a:blip r:embed="rId5"/>
          <a:stretch>
            <a:fillRect/>
          </a:stretch>
        </p:blipFill>
        <p:spPr>
          <a:xfrm>
            <a:off x="6095999" y="1766184"/>
            <a:ext cx="5486559" cy="4270730"/>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DFBF-9D20-C0CC-D7EB-34CAA45CCDD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E76878-CD64-93CC-DF76-B48A3494120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9367DEB1-F752-390C-0953-75C5F4931E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73188A-2F14-0E0C-0324-FE9FA9C35AE2}"/>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0AA08DA-C8B3-5B7D-A361-D0BCAA25830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2210D8AD-ADEF-FB9B-CBA8-7A4CB4E386C3}"/>
              </a:ext>
            </a:extLst>
          </p:cNvPr>
          <p:cNvSpPr/>
          <p:nvPr/>
        </p:nvSpPr>
        <p:spPr>
          <a:xfrm>
            <a:off x="398625" y="1405983"/>
            <a:ext cx="5585231" cy="4372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7EA5ED30-2F6C-1577-95B4-85A009228CB2}"/>
              </a:ext>
            </a:extLst>
          </p:cNvPr>
          <p:cNvSpPr txBox="1"/>
          <p:nvPr/>
        </p:nvSpPr>
        <p:spPr>
          <a:xfrm>
            <a:off x="2533443" y="1400292"/>
            <a:ext cx="1315593" cy="369332"/>
          </a:xfrm>
          <a:prstGeom prst="rect">
            <a:avLst/>
          </a:prstGeom>
          <a:noFill/>
        </p:spPr>
        <p:txBody>
          <a:bodyPr wrap="square" rtlCol="0">
            <a:spAutoFit/>
          </a:bodyPr>
          <a:lstStyle/>
          <a:p>
            <a:pPr algn="ctr"/>
            <a:r>
              <a:rPr lang="en-US" b="1" dirty="0"/>
              <a:t>For 0.6 µm</a:t>
            </a:r>
          </a:p>
        </p:txBody>
      </p:sp>
      <p:sp>
        <p:nvSpPr>
          <p:cNvPr id="9" name="Rectángulo 8">
            <a:extLst>
              <a:ext uri="{FF2B5EF4-FFF2-40B4-BE49-F238E27FC236}">
                <a16:creationId xmlns:a16="http://schemas.microsoft.com/office/drawing/2014/main" id="{5AA275AF-3B5E-DB20-8FEC-89262DEC1A3B}"/>
              </a:ext>
            </a:extLst>
          </p:cNvPr>
          <p:cNvSpPr/>
          <p:nvPr/>
        </p:nvSpPr>
        <p:spPr>
          <a:xfrm>
            <a:off x="6107991" y="1400293"/>
            <a:ext cx="5685384" cy="416230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908BA309-9706-4509-A8B6-F8C659D41067}"/>
              </a:ext>
            </a:extLst>
          </p:cNvPr>
          <p:cNvSpPr txBox="1"/>
          <p:nvPr/>
        </p:nvSpPr>
        <p:spPr>
          <a:xfrm>
            <a:off x="8342964" y="1405673"/>
            <a:ext cx="1315593" cy="369332"/>
          </a:xfrm>
          <a:prstGeom prst="rect">
            <a:avLst/>
          </a:prstGeom>
          <a:noFill/>
        </p:spPr>
        <p:txBody>
          <a:bodyPr wrap="square" rtlCol="0">
            <a:spAutoFit/>
          </a:bodyPr>
          <a:lstStyle/>
          <a:p>
            <a:pPr algn="ctr"/>
            <a:r>
              <a:rPr lang="en-US" b="1" dirty="0"/>
              <a:t>For 0.8 µm</a:t>
            </a:r>
          </a:p>
        </p:txBody>
      </p:sp>
      <p:pic>
        <p:nvPicPr>
          <p:cNvPr id="13" name="Imagen 12">
            <a:extLst>
              <a:ext uri="{FF2B5EF4-FFF2-40B4-BE49-F238E27FC236}">
                <a16:creationId xmlns:a16="http://schemas.microsoft.com/office/drawing/2014/main" id="{A4FBA2C8-7B06-91AF-055B-7DC24CB50407}"/>
              </a:ext>
            </a:extLst>
          </p:cNvPr>
          <p:cNvPicPr>
            <a:picLocks noChangeAspect="1"/>
          </p:cNvPicPr>
          <p:nvPr/>
        </p:nvPicPr>
        <p:blipFill>
          <a:blip r:embed="rId4"/>
          <a:stretch>
            <a:fillRect/>
          </a:stretch>
        </p:blipFill>
        <p:spPr>
          <a:xfrm>
            <a:off x="482732" y="1769624"/>
            <a:ext cx="5454661" cy="3931012"/>
          </a:xfrm>
          <a:prstGeom prst="rect">
            <a:avLst/>
          </a:prstGeom>
        </p:spPr>
      </p:pic>
      <p:pic>
        <p:nvPicPr>
          <p:cNvPr id="15" name="Imagen 14">
            <a:extLst>
              <a:ext uri="{FF2B5EF4-FFF2-40B4-BE49-F238E27FC236}">
                <a16:creationId xmlns:a16="http://schemas.microsoft.com/office/drawing/2014/main" id="{7791638B-A88E-D78C-80E7-D841FB0F36A0}"/>
              </a:ext>
            </a:extLst>
          </p:cNvPr>
          <p:cNvPicPr>
            <a:picLocks noChangeAspect="1"/>
          </p:cNvPicPr>
          <p:nvPr/>
        </p:nvPicPr>
        <p:blipFill>
          <a:blip r:embed="rId5"/>
          <a:stretch>
            <a:fillRect/>
          </a:stretch>
        </p:blipFill>
        <p:spPr>
          <a:xfrm>
            <a:off x="6217644" y="1769624"/>
            <a:ext cx="5432999" cy="3682703"/>
          </a:xfrm>
          <a:prstGeom prst="rect">
            <a:avLst/>
          </a:prstGeom>
        </p:spPr>
      </p:pic>
    </p:spTree>
    <p:extLst>
      <p:ext uri="{BB962C8B-B14F-4D97-AF65-F5344CB8AC3E}">
        <p14:creationId xmlns:p14="http://schemas.microsoft.com/office/powerpoint/2010/main" val="4190942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C983A-5DA4-59A8-BEED-765434EB74F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4057AAF-4C10-7913-8538-021B6E59C163}"/>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F0E39D75-8EBD-9777-0756-340F0EE7AE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085EC8E-CEF4-E463-6C36-264EF3D1DD6F}"/>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AD2B806-5963-909E-CBDD-71B2EBF795D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FCE3BC4F-3046-BD42-322E-2DFB339806A1}"/>
              </a:ext>
            </a:extLst>
          </p:cNvPr>
          <p:cNvSpPr/>
          <p:nvPr/>
        </p:nvSpPr>
        <p:spPr>
          <a:xfrm>
            <a:off x="325539" y="1396316"/>
            <a:ext cx="5770461" cy="405601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82335C5A-254A-1F79-2387-23E91417D1D5}"/>
              </a:ext>
            </a:extLst>
          </p:cNvPr>
          <p:cNvSpPr txBox="1"/>
          <p:nvPr/>
        </p:nvSpPr>
        <p:spPr>
          <a:xfrm>
            <a:off x="2528275" y="1408087"/>
            <a:ext cx="1315593" cy="369332"/>
          </a:xfrm>
          <a:prstGeom prst="rect">
            <a:avLst/>
          </a:prstGeom>
          <a:noFill/>
        </p:spPr>
        <p:txBody>
          <a:bodyPr wrap="square" rtlCol="0">
            <a:spAutoFit/>
          </a:bodyPr>
          <a:lstStyle/>
          <a:p>
            <a:pPr algn="ctr"/>
            <a:r>
              <a:rPr lang="en-US" b="1" dirty="0"/>
              <a:t>For 1 µm</a:t>
            </a:r>
          </a:p>
        </p:txBody>
      </p:sp>
      <p:sp>
        <p:nvSpPr>
          <p:cNvPr id="9" name="Rectángulo 8">
            <a:extLst>
              <a:ext uri="{FF2B5EF4-FFF2-40B4-BE49-F238E27FC236}">
                <a16:creationId xmlns:a16="http://schemas.microsoft.com/office/drawing/2014/main" id="{6ABF2E34-FBBF-CE09-8235-208E8631C109}"/>
              </a:ext>
            </a:extLst>
          </p:cNvPr>
          <p:cNvSpPr/>
          <p:nvPr/>
        </p:nvSpPr>
        <p:spPr>
          <a:xfrm>
            <a:off x="6181444" y="1406478"/>
            <a:ext cx="5664574" cy="385132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19F66567-2080-73D8-89C2-F4275865922F}"/>
              </a:ext>
            </a:extLst>
          </p:cNvPr>
          <p:cNvSpPr txBox="1"/>
          <p:nvPr/>
        </p:nvSpPr>
        <p:spPr>
          <a:xfrm>
            <a:off x="8355152" y="1404869"/>
            <a:ext cx="1315593" cy="369332"/>
          </a:xfrm>
          <a:prstGeom prst="rect">
            <a:avLst/>
          </a:prstGeom>
          <a:noFill/>
        </p:spPr>
        <p:txBody>
          <a:bodyPr wrap="square" rtlCol="0">
            <a:spAutoFit/>
          </a:bodyPr>
          <a:lstStyle/>
          <a:p>
            <a:pPr algn="ctr"/>
            <a:r>
              <a:rPr lang="en-US" b="1" dirty="0"/>
              <a:t>For 1.2 µm</a:t>
            </a:r>
          </a:p>
        </p:txBody>
      </p:sp>
      <p:pic>
        <p:nvPicPr>
          <p:cNvPr id="13" name="Imagen 12">
            <a:extLst>
              <a:ext uri="{FF2B5EF4-FFF2-40B4-BE49-F238E27FC236}">
                <a16:creationId xmlns:a16="http://schemas.microsoft.com/office/drawing/2014/main" id="{2FE82AF7-4787-11EA-CD1B-2DDA1C64D702}"/>
              </a:ext>
            </a:extLst>
          </p:cNvPr>
          <p:cNvPicPr>
            <a:picLocks noChangeAspect="1"/>
          </p:cNvPicPr>
          <p:nvPr/>
        </p:nvPicPr>
        <p:blipFill>
          <a:blip r:embed="rId4"/>
          <a:stretch>
            <a:fillRect/>
          </a:stretch>
        </p:blipFill>
        <p:spPr>
          <a:xfrm>
            <a:off x="438360" y="1773146"/>
            <a:ext cx="5577276" cy="3622142"/>
          </a:xfrm>
          <a:prstGeom prst="rect">
            <a:avLst/>
          </a:prstGeom>
        </p:spPr>
      </p:pic>
      <p:pic>
        <p:nvPicPr>
          <p:cNvPr id="15" name="Imagen 14">
            <a:extLst>
              <a:ext uri="{FF2B5EF4-FFF2-40B4-BE49-F238E27FC236}">
                <a16:creationId xmlns:a16="http://schemas.microsoft.com/office/drawing/2014/main" id="{A880838E-73AF-C292-348C-0CA2EE747453}"/>
              </a:ext>
            </a:extLst>
          </p:cNvPr>
          <p:cNvPicPr>
            <a:picLocks noChangeAspect="1"/>
          </p:cNvPicPr>
          <p:nvPr/>
        </p:nvPicPr>
        <p:blipFill>
          <a:blip r:embed="rId5"/>
          <a:stretch>
            <a:fillRect/>
          </a:stretch>
        </p:blipFill>
        <p:spPr>
          <a:xfrm>
            <a:off x="6272258" y="1761576"/>
            <a:ext cx="5481382" cy="3435940"/>
          </a:xfrm>
          <a:prstGeom prst="rect">
            <a:avLst/>
          </a:prstGeom>
        </p:spPr>
      </p:pic>
    </p:spTree>
    <p:extLst>
      <p:ext uri="{BB962C8B-B14F-4D97-AF65-F5344CB8AC3E}">
        <p14:creationId xmlns:p14="http://schemas.microsoft.com/office/powerpoint/2010/main" val="1116002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13C84-085B-1724-3B3A-89BCA83D1FC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3748A56-5BB0-EFBC-1169-F80CAC6F1C5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45AF6B8-0E0A-E85D-54FF-191F592A88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72D3DFF-8159-AEA8-166F-1D327BEB4A33}"/>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AF2F156-9690-7E9A-185C-C4F2BE1B3B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D878430-F8EB-42C2-8F96-1FD5F0672BA9}"/>
              </a:ext>
            </a:extLst>
          </p:cNvPr>
          <p:cNvSpPr txBox="1"/>
          <p:nvPr/>
        </p:nvSpPr>
        <p:spPr>
          <a:xfrm>
            <a:off x="685800" y="1371600"/>
            <a:ext cx="10768781" cy="2308324"/>
          </a:xfrm>
          <a:prstGeom prst="rect">
            <a:avLst/>
          </a:prstGeom>
          <a:solidFill>
            <a:schemeClr val="bg1">
              <a:lumMod val="95000"/>
            </a:schemeClr>
          </a:solidFill>
          <a:ln w="28575">
            <a:solidFill>
              <a:srgbClr val="E0700D"/>
            </a:solidFill>
          </a:ln>
        </p:spPr>
        <p:txBody>
          <a:bodyPr wrap="square" rtlCol="0">
            <a:spAutoFit/>
          </a:bodyPr>
          <a:lstStyle/>
          <a:p>
            <a:r>
              <a:rPr lang="es-ES" sz="1200" dirty="0"/>
              <a:t>En las gráficas de propagación EME podemos observar cómo la luz, al entrar por una de las guías, se va acoplando progresivamente a la otra debido a la interacción entre ambas, ya que al estar muy próximas parte del campo se va hacia la guía vecina. Esto provoca una transferencia de potencia a lo largo del eje </a:t>
            </a:r>
            <a:r>
              <a:rPr lang="es-ES" sz="1200" b="1" dirty="0"/>
              <a:t>z</a:t>
            </a:r>
            <a:r>
              <a:rPr lang="es-ES" sz="1200" dirty="0"/>
              <a:t>, visible como el paso de la intensidad máxima de una guía a la otra. </a:t>
            </a:r>
            <a:br>
              <a:rPr lang="en-US" sz="1200" dirty="0">
                <a:latin typeface="Arial" panose="020B0604020202020204" pitchFamily="34" charset="0"/>
                <a:cs typeface="Arial" panose="020B0604020202020204" pitchFamily="34" charset="0"/>
              </a:rPr>
            </a:br>
            <a:br>
              <a:rPr lang="en-US" sz="1200" dirty="0">
                <a:latin typeface="Arial" panose="020B0604020202020204" pitchFamily="34" charset="0"/>
                <a:cs typeface="Arial" panose="020B0604020202020204" pitchFamily="34" charset="0"/>
              </a:rPr>
            </a:br>
            <a:r>
              <a:rPr lang="es-ES" sz="1200" dirty="0"/>
              <a:t>El análisis muestra que la </a:t>
            </a:r>
            <a:r>
              <a:rPr lang="es-ES" sz="1200" b="1" dirty="0"/>
              <a:t>longitud de acoplamiento </a:t>
            </a:r>
            <a:r>
              <a:rPr lang="es-ES" sz="1200" b="1" dirty="0" err="1"/>
              <a:t>L_pi</a:t>
            </a:r>
            <a:r>
              <a:rPr lang="es-ES" sz="1200" b="1" dirty="0"/>
              <a:t> </a:t>
            </a:r>
            <a:r>
              <a:rPr lang="es-ES" sz="1200" dirty="0"/>
              <a:t>depende de la separación entre guías: con un gap pequeño (0.2 µm) </a:t>
            </a:r>
            <a:r>
              <a:rPr lang="es-ES" sz="1200" b="1" dirty="0"/>
              <a:t>L_pi = 25,81 </a:t>
            </a:r>
            <a:r>
              <a:rPr lang="es-ES" sz="1200" b="1" dirty="0" err="1"/>
              <a:t>um</a:t>
            </a:r>
            <a:r>
              <a:rPr lang="es-ES" sz="1200" dirty="0"/>
              <a:t>,</a:t>
            </a:r>
            <a:r>
              <a:rPr lang="ar-AE" sz="1200" dirty="0"/>
              <a:t> </a:t>
            </a:r>
            <a:r>
              <a:rPr lang="es-ES" sz="1200" dirty="0"/>
              <a:t>las guías están muy cercanas, no están tan confinadas y la energía se transfiere rápidamente, mientras que con un gap grande (1.2 µm) </a:t>
            </a:r>
            <a:r>
              <a:rPr lang="es-ES" sz="1200" b="1" dirty="0" err="1"/>
              <a:t>L_pi</a:t>
            </a:r>
            <a:r>
              <a:rPr lang="es-ES" sz="1200" b="1" dirty="0"/>
              <a:t> = 580,43 </a:t>
            </a:r>
            <a:r>
              <a:rPr lang="es-ES" sz="1200" b="1" dirty="0" err="1"/>
              <a:t>um</a:t>
            </a:r>
            <a:r>
              <a:rPr lang="es-ES" sz="1200" b="1" dirty="0"/>
              <a:t> </a:t>
            </a:r>
            <a:r>
              <a:rPr lang="es-ES" sz="1200" dirty="0"/>
              <a:t>la transferencia es mucho más lenta, necesitando casi 22 veces más distancia. A pesar de esto, la relación de acoplamiento se mantiene cercana a </a:t>
            </a:r>
            <a:r>
              <a:rPr lang="es-ES" sz="1200" b="1" dirty="0"/>
              <a:t>50/50</a:t>
            </a:r>
            <a:r>
              <a:rPr lang="es-ES" sz="1200" dirty="0"/>
              <a:t> en todas las simulaciones, lo que confirma que el algoritmo calcula correctamente la longitud </a:t>
            </a:r>
            <a:r>
              <a:rPr lang="es-ES" sz="1200" b="1" dirty="0" err="1"/>
              <a:t>L_pi</a:t>
            </a:r>
            <a:r>
              <a:rPr lang="es-ES" sz="1200" b="1" dirty="0"/>
              <a:t>/2 </a:t>
            </a:r>
            <a:r>
              <a:rPr lang="es-ES" sz="1200" dirty="0"/>
              <a:t>para un acoplador de 3 dB, demostrando la robustez funcional del diseño, aunque a costa de aumentar la longitud del dispositivo. </a:t>
            </a:r>
          </a:p>
          <a:p>
            <a:endParaRPr lang="es-ES" sz="1200" dirty="0"/>
          </a:p>
          <a:p>
            <a:r>
              <a:rPr lang="es-ES" sz="1200" dirty="0"/>
              <a:t>Las </a:t>
            </a:r>
            <a:r>
              <a:rPr lang="es-ES" sz="1200" b="1" dirty="0"/>
              <a:t>pérdidas y eficiencia</a:t>
            </a:r>
            <a:r>
              <a:rPr lang="es-ES" sz="1200" dirty="0"/>
              <a:t> también dependen del gap: para 0.2 µm las pérdidas pueden ser mayores, mientras que con gaps más grandes la potencia de salida total aumenta (~88–95%), indicando que existe un punto donde el acoplador funciona perfectamente.</a:t>
            </a:r>
          </a:p>
        </p:txBody>
      </p:sp>
    </p:spTree>
    <p:extLst>
      <p:ext uri="{BB962C8B-B14F-4D97-AF65-F5344CB8AC3E}">
        <p14:creationId xmlns:p14="http://schemas.microsoft.com/office/powerpoint/2010/main" val="3474667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46009" y="172472"/>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569650" y="4390785"/>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cs typeface="Arial" panose="020B0604020202020204" pitchFamily="34" charset="0"/>
              </a:rPr>
              <a:t>Estas dos gráficas ilustran cómo el coeficiente de acoplamiento (</a:t>
            </a:r>
            <a:r>
              <a:rPr lang="es-ES" sz="1200" b="1" dirty="0">
                <a:cs typeface="Arial" panose="020B0604020202020204" pitchFamily="34" charset="0"/>
              </a:rPr>
              <a:t>K</a:t>
            </a:r>
            <a:r>
              <a:rPr lang="es-ES" sz="1200" dirty="0">
                <a:cs typeface="Arial" panose="020B0604020202020204" pitchFamily="34" charset="0"/>
              </a:rPr>
              <a:t>) disminuye de forma exponencial a medida que aumenta la brecha o gap entre dos guías de ondas paralelas, basándose en que todas las guías en paralelo experimentan algún grado de transferencia de energía por el solapamiento de sus campos evanescentes. Para cumplir con lo que nos pide de guías desacopladas, se define un objetivo donde K &lt; 0.01, con una longitud de 10 mm, lo que garantiza que la interferencia entre señales sea despreciable. </a:t>
            </a:r>
          </a:p>
          <a:p>
            <a:pPr algn="just"/>
            <a:endParaRPr lang="es-ES" sz="1200" dirty="0">
              <a:cs typeface="Arial" panose="020B0604020202020204" pitchFamily="34" charset="0"/>
            </a:endParaRPr>
          </a:p>
          <a:p>
            <a:pPr algn="just"/>
            <a:r>
              <a:rPr lang="es-ES" sz="1200" dirty="0">
                <a:cs typeface="Arial" panose="020B0604020202020204" pitchFamily="34" charset="0"/>
              </a:rPr>
              <a:t>Al comparar ambos casos para una longitud de onda de 1.55 µm y un ancho de guía de 1.0 µm, se observa que </a:t>
            </a:r>
            <a:r>
              <a:rPr lang="es-ES" sz="1200" b="1" dirty="0">
                <a:cs typeface="Arial" panose="020B0604020202020204" pitchFamily="34" charset="0"/>
              </a:rPr>
              <a:t>la guía </a:t>
            </a:r>
            <a:r>
              <a:rPr lang="es-ES" sz="1200" b="1" dirty="0" err="1">
                <a:cs typeface="Arial" panose="020B0604020202020204" pitchFamily="34" charset="0"/>
              </a:rPr>
              <a:t>deep</a:t>
            </a:r>
            <a:r>
              <a:rPr lang="es-ES" sz="1200" b="1" dirty="0">
                <a:cs typeface="Arial" panose="020B0604020202020204" pitchFamily="34" charset="0"/>
              </a:rPr>
              <a:t> </a:t>
            </a:r>
            <a:r>
              <a:rPr lang="es-ES" sz="1200" dirty="0">
                <a:cs typeface="Arial" panose="020B0604020202020204" pitchFamily="34" charset="0"/>
              </a:rPr>
              <a:t>logra el aislamiento de forma más eficiente, requiriendo un gap mínimo de solo </a:t>
            </a:r>
            <a:r>
              <a:rPr lang="es-ES" sz="1200" b="1" dirty="0">
                <a:cs typeface="Arial" panose="020B0604020202020204" pitchFamily="34" charset="0"/>
              </a:rPr>
              <a:t>0.971 µm </a:t>
            </a:r>
            <a:r>
              <a:rPr lang="es-ES" sz="1200" dirty="0">
                <a:cs typeface="Arial" panose="020B0604020202020204" pitchFamily="34" charset="0"/>
              </a:rPr>
              <a:t>para alcanzar un coeficiente de </a:t>
            </a:r>
            <a:r>
              <a:rPr lang="es-ES" sz="1200" b="1" dirty="0">
                <a:cs typeface="Arial" panose="020B0604020202020204" pitchFamily="34" charset="0"/>
              </a:rPr>
              <a:t>0.008578</a:t>
            </a:r>
            <a:r>
              <a:rPr lang="es-ES" sz="1200" dirty="0">
                <a:cs typeface="Arial" panose="020B0604020202020204" pitchFamily="34" charset="0"/>
              </a:rPr>
              <a:t>. En contraste, </a:t>
            </a:r>
            <a:r>
              <a:rPr lang="es-ES" sz="1200" b="1" dirty="0">
                <a:cs typeface="Arial" panose="020B0604020202020204" pitchFamily="34" charset="0"/>
              </a:rPr>
              <a:t>la guía </a:t>
            </a:r>
            <a:r>
              <a:rPr lang="es-ES" sz="1200" b="1" dirty="0" err="1">
                <a:cs typeface="Arial" panose="020B0604020202020204" pitchFamily="34" charset="0"/>
              </a:rPr>
              <a:t>shallow</a:t>
            </a:r>
            <a:r>
              <a:rPr lang="es-ES" sz="1200" dirty="0">
                <a:cs typeface="Arial" panose="020B0604020202020204" pitchFamily="34" charset="0"/>
              </a:rPr>
              <a:t>, al tener un confinamiento de luz menos restrictivo, necesita una brecha significativamente mayor de </a:t>
            </a:r>
            <a:r>
              <a:rPr lang="es-ES" sz="1200" b="1" dirty="0">
                <a:cs typeface="Arial" panose="020B0604020202020204" pitchFamily="34" charset="0"/>
              </a:rPr>
              <a:t>1.339 µm </a:t>
            </a:r>
            <a:r>
              <a:rPr lang="es-ES" sz="1200" dirty="0">
                <a:cs typeface="Arial" panose="020B0604020202020204" pitchFamily="34" charset="0"/>
              </a:rPr>
              <a:t>para asegurar que el acoplamiento se mantenga por debajo del límite, situándose en un valor de </a:t>
            </a:r>
            <a:r>
              <a:rPr lang="es-ES" sz="1200" b="1" dirty="0">
                <a:cs typeface="Arial" panose="020B0604020202020204" pitchFamily="34" charset="0"/>
              </a:rPr>
              <a:t>0.009021</a:t>
            </a:r>
            <a:r>
              <a:rPr lang="es-ES" sz="1200" dirty="0">
                <a:cs typeface="Arial" panose="020B0604020202020204" pitchFamily="34" charset="0"/>
              </a:rPr>
              <a:t>. Esta diferencia demuestra que el uso de guías </a:t>
            </a:r>
            <a:r>
              <a:rPr lang="es-ES" sz="1200" dirty="0" err="1">
                <a:cs typeface="Arial" panose="020B0604020202020204" pitchFamily="34" charset="0"/>
              </a:rPr>
              <a:t>deep</a:t>
            </a:r>
            <a:r>
              <a:rPr lang="es-ES" sz="1200" dirty="0">
                <a:cs typeface="Arial" panose="020B0604020202020204" pitchFamily="34" charset="0"/>
              </a:rPr>
              <a:t> permite una mayor integración en el chip, ya que el campo eléctrico está más contenido y permite acercar más las diferentes rutas sin afectar a cada guía. </a:t>
            </a:r>
            <a:endParaRPr lang="en-US" sz="1200" dirty="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569650" y="982789"/>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281633" y="982789"/>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39612" y="2244085"/>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39612" y="2244085"/>
                <a:ext cx="4546634" cy="1477328"/>
              </a:xfrm>
              <a:prstGeom prst="rect">
                <a:avLst/>
              </a:prstGeom>
              <a:blipFill>
                <a:blip r:embed="rId4"/>
                <a:stretch>
                  <a:fillRect t="-206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43575" y="2244085"/>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43575" y="2244085"/>
                <a:ext cx="4546634" cy="1477328"/>
              </a:xfrm>
              <a:prstGeom prst="rect">
                <a:avLst/>
              </a:prstGeom>
              <a:blipFill>
                <a:blip r:embed="rId5"/>
                <a:stretch>
                  <a:fillRect t="-2066" b="-5785"/>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388945F1-DD2B-5484-22E1-F0CE34E6931C}"/>
              </a:ext>
            </a:extLst>
          </p:cNvPr>
          <p:cNvPicPr>
            <a:picLocks noChangeAspect="1"/>
          </p:cNvPicPr>
          <p:nvPr/>
        </p:nvPicPr>
        <p:blipFill>
          <a:blip r:embed="rId6"/>
          <a:stretch>
            <a:fillRect/>
          </a:stretch>
        </p:blipFill>
        <p:spPr>
          <a:xfrm>
            <a:off x="707341" y="1044549"/>
            <a:ext cx="5220429" cy="3219899"/>
          </a:xfrm>
          <a:prstGeom prst="rect">
            <a:avLst/>
          </a:prstGeom>
        </p:spPr>
      </p:pic>
      <p:pic>
        <p:nvPicPr>
          <p:cNvPr id="11" name="Imagen 10">
            <a:extLst>
              <a:ext uri="{FF2B5EF4-FFF2-40B4-BE49-F238E27FC236}">
                <a16:creationId xmlns:a16="http://schemas.microsoft.com/office/drawing/2014/main" id="{4E31C7B2-AD97-E9BC-E932-6895EEF7F26F}"/>
              </a:ext>
            </a:extLst>
          </p:cNvPr>
          <p:cNvPicPr>
            <a:picLocks noChangeAspect="1"/>
          </p:cNvPicPr>
          <p:nvPr/>
        </p:nvPicPr>
        <p:blipFill>
          <a:blip r:embed="rId7"/>
          <a:stretch>
            <a:fillRect/>
          </a:stretch>
        </p:blipFill>
        <p:spPr>
          <a:xfrm>
            <a:off x="6457395" y="1035023"/>
            <a:ext cx="5210902" cy="3238952"/>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9600" y="949931"/>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9600" y="949931"/>
                <a:ext cx="11048999" cy="4958137"/>
              </a:xfrm>
              <a:prstGeom prst="rect">
                <a:avLst/>
              </a:prstGeom>
              <a:blipFill>
                <a:blip r:embed="rId4"/>
                <a:stretch>
                  <a:fillRect l="-552"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583019" y="3230412"/>
            <a:ext cx="11199971" cy="3046988"/>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Tx/>
              <a:buChar char="-"/>
            </a:pPr>
            <a:r>
              <a:rPr lang="es-ES" sz="1200" dirty="0"/>
              <a:t>En el array podemos observar los valores de </a:t>
            </a:r>
            <a:r>
              <a:rPr lang="es-ES" sz="1200" b="1" dirty="0" err="1"/>
              <a:t>neff</a:t>
            </a:r>
            <a:r>
              <a:rPr lang="es-ES" sz="1200" dirty="0"/>
              <a:t> de los distintos modos guiados. Los primeros valores son los más altos (</a:t>
            </a:r>
            <a:r>
              <a:rPr lang="es-ES" sz="1200" b="1" dirty="0"/>
              <a:t>1.678, 1.675, 1.669),</a:t>
            </a:r>
            <a:r>
              <a:rPr lang="es-ES" sz="1200" dirty="0"/>
              <a:t> y van disminuyendo progresivamente hasta valores cercanos a </a:t>
            </a:r>
            <a:r>
              <a:rPr lang="es-ES" sz="1200" b="1" dirty="0"/>
              <a:t>1.50</a:t>
            </a:r>
            <a:r>
              <a:rPr lang="es-ES" sz="1200" dirty="0"/>
              <a:t>. Esto indica que los primeros corresponden a los modos más confinados en el núcleo, mientras que los últimos son modos de orden superior que se extienden más hacia la cubierta (</a:t>
            </a:r>
            <a:r>
              <a:rPr lang="es-ES" sz="1200" dirty="0" err="1"/>
              <a:t>cladding</a:t>
            </a:r>
            <a:r>
              <a:rPr lang="es-ES" sz="1200" dirty="0"/>
              <a:t>). Además, todos los valores tienen una pequeña parte imaginaria, que representa pérdidas. Como hemos podido ver, en los últimos modos que están menos confinados esta parte imaginaria aumenta, lo cual tiene sentido porque tienden a tener más fuga. </a:t>
            </a:r>
          </a:p>
          <a:p>
            <a:pPr marL="171450" indent="-171450" algn="just">
              <a:buFontTx/>
              <a:buChar char="-"/>
            </a:pPr>
            <a:endParaRPr lang="es-ES" sz="1200" dirty="0"/>
          </a:p>
          <a:p>
            <a:pPr marL="171450" indent="-171450" algn="just">
              <a:buFontTx/>
              <a:buChar char="-"/>
            </a:pPr>
            <a:r>
              <a:rPr lang="es-ES" sz="1200" dirty="0"/>
              <a:t>Respecto a las gráficas: la primera gráfica corresponde al modo fundamental, donde el campo está muy concentrado en el centro y no aparecen nodos, lo que indica un buen confinamiento. En la segunda gráfica ya aparece un nodo, lo que significa que estamos en un modo de orden superior (orden 1). En la tercera gráfica aparecen más nodos y una forma más compleja, lo que indica un modo de orden aún mayor (orden 7). Estos nodos aparecen porque los modos de orden superior son soluciones de la ecuación de onda con más oscilaciones internas, y esto hace que el campo tenga zonas donde se anula. A medida que aumenta el número de nodos, el modo está menos confinado, lo cual coincide con la disminución de </a:t>
            </a:r>
            <a:r>
              <a:rPr lang="es-ES" sz="1200" b="1" dirty="0" err="1"/>
              <a:t>neff</a:t>
            </a:r>
            <a:r>
              <a:rPr lang="es-ES" sz="1200" dirty="0"/>
              <a:t> observada en el array.</a:t>
            </a:r>
          </a:p>
          <a:p>
            <a:pPr algn="just"/>
            <a:endParaRPr lang="es-ES" sz="1200" dirty="0"/>
          </a:p>
          <a:p>
            <a:pPr marL="171450" indent="-171450" algn="just">
              <a:buFontTx/>
              <a:buChar char="-"/>
            </a:pPr>
            <a:r>
              <a:rPr lang="es-ES" sz="1200" dirty="0"/>
              <a:t>Al comparar polarizaciones, vemos que los modos TE suelen tener valores de </a:t>
            </a:r>
            <a:r>
              <a:rPr lang="es-ES" sz="1200" b="1" dirty="0" err="1"/>
              <a:t>neff</a:t>
            </a:r>
            <a:r>
              <a:rPr lang="es-ES" sz="1200" dirty="0"/>
              <a:t> ligeramente mayores que los TM, lo que indica un mayor confinamiento. Esto se debe a que el campo eléctrico se transmite mejor dentro de la guía y se mantiene más dentro del núcleo. En cambio, los modos TM tienden a extenderse más en la cubierta, reduciendo su confinamiento y, por tanto, su </a:t>
            </a:r>
            <a:r>
              <a:rPr lang="es-ES" sz="1200" b="1" dirty="0" err="1"/>
              <a:t>neff</a:t>
            </a:r>
            <a:r>
              <a:rPr lang="es-ES" sz="1200" b="1" dirty="0"/>
              <a:t>, </a:t>
            </a:r>
            <a:r>
              <a:rPr lang="es-ES" sz="1200" dirty="0"/>
              <a:t>como ya habíamos comentado en apartados anteriores. El enunciado también pide describir como se calcula </a:t>
            </a:r>
            <a:r>
              <a:rPr lang="es-ES" sz="1200" dirty="0" err="1"/>
              <a:t>L_pi</a:t>
            </a:r>
            <a:r>
              <a:rPr lang="es-ES" sz="1200" dirty="0"/>
              <a:t>. Para calcular </a:t>
            </a:r>
            <a:r>
              <a:rPr lang="es-ES" sz="1200" b="1" dirty="0" err="1"/>
              <a:t>L_pi</a:t>
            </a:r>
            <a:r>
              <a:rPr lang="es-ES" sz="1200" dirty="0"/>
              <a:t>, Se mide la diferencia de velocidad entre los dos primeros modos de luz que viajan por el cuerpo del MMI. Esta longitud es el trayecto exacto que necesitan esos modos para desfasarse lo suficiente para que a la salida haya lo mismo que a la entrada. </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5867400" y="1369698"/>
            <a:ext cx="5715159" cy="341632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la simulación podemos observar la propagación de la señal a lo largo del MMI, donde se aprecia claramente el fenómeno de interferencia multimodo. La potencia de entrada es aproximadamente 0.9604 y la potencia total de salida es 0.9075, lo que implica unas pérdidas de exceso de unos 0.42 dB, relativamente bajas y coherentes con este tipo de dispositivos. En cuanto al reparto de potencia en las salidas, se obtiene una distribución cercana al 50/50 (0.4675 y 0.4399 en potencia, o 0.5152 y 0.4848 normalizado), lo que indica que el acoplador está funcionando de forma bastante equilibrada, como se espera en un MMI bien diseñado.</a:t>
            </a:r>
          </a:p>
          <a:p>
            <a:pPr algn="just"/>
            <a:endParaRPr lang="es-ES" sz="1200" dirty="0"/>
          </a:p>
          <a:p>
            <a:pPr algn="just"/>
            <a:r>
              <a:rPr lang="es-ES" sz="1200" dirty="0"/>
              <a:t>La gráfica de propagación muestra cómo los distintos modos se interfieren a lo largo de la longitud del dispositivo, generando interferencias que dan lugar a la salida. Esta longitud está relacionada con la longitud </a:t>
            </a:r>
            <a:r>
              <a:rPr lang="es-ES" sz="1200" b="1" dirty="0" err="1"/>
              <a:t>L_pi</a:t>
            </a:r>
            <a:r>
              <a:rPr lang="es-ES" sz="1200" b="1" dirty="0"/>
              <a:t>, </a:t>
            </a:r>
            <a:r>
              <a:rPr lang="es-ES" sz="1200" dirty="0"/>
              <a:t>que determina la distancia a la que se reconstruye el campo y se produce el acoplamiento deseado. </a:t>
            </a:r>
          </a:p>
          <a:p>
            <a:pPr algn="just"/>
            <a:endParaRPr lang="es-ES" sz="1200" dirty="0"/>
          </a:p>
          <a:p>
            <a:pPr algn="just"/>
            <a:r>
              <a:rPr lang="es-ES" sz="1200" dirty="0"/>
              <a:t>A diferencia del acoplador direccional, donde el acoplamiento depende del solapamiento evanescente entre dos guías y es muy sensible a la separación y a la longitud exacta, en el MMI el acoplamiento se basa en la interferencia de múltiples modos, lo que lo hace más robusto frente a variaciones geométricas y de fabricación.</a:t>
            </a: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5105559" cy="42612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DD5678B4-2C1B-3CEC-DBE4-FA26C8027E77}"/>
              </a:ext>
            </a:extLst>
          </p:cNvPr>
          <p:cNvPicPr>
            <a:picLocks noChangeAspect="1"/>
          </p:cNvPicPr>
          <p:nvPr/>
        </p:nvPicPr>
        <p:blipFill>
          <a:blip r:embed="rId4"/>
          <a:stretch>
            <a:fillRect/>
          </a:stretch>
        </p:blipFill>
        <p:spPr>
          <a:xfrm>
            <a:off x="685800" y="1428159"/>
            <a:ext cx="4953000" cy="4148137"/>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60B73-C02B-0439-4C06-EE7F727E6651}"/>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5CEAB238-E3D4-88EE-51F9-E17200450F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2D3C991-1D8B-BE7F-0D29-CC515D1E76A9}"/>
              </a:ext>
            </a:extLst>
          </p:cNvPr>
          <p:cNvSpPr>
            <a:spLocks noGrp="1"/>
          </p:cNvSpPr>
          <p:nvPr>
            <p:ph type="sldNum" sz="quarter" idx="7"/>
          </p:nvPr>
        </p:nvSpPr>
        <p:spPr/>
        <p:txBody>
          <a:bodyPr/>
          <a:lstStyle/>
          <a:p>
            <a:fld id="{B6F15528-21DE-4FAA-801E-634DDDAF4B2B}" type="slidenum">
              <a:rPr lang="es-ES" smtClean="0"/>
              <a:t>14</a:t>
            </a:fld>
            <a:endParaRPr lang="es-ES" dirty="0"/>
          </a:p>
        </p:txBody>
      </p:sp>
      <p:sp>
        <p:nvSpPr>
          <p:cNvPr id="3" name="Marcador de pie de página 2">
            <a:extLst>
              <a:ext uri="{FF2B5EF4-FFF2-40B4-BE49-F238E27FC236}">
                <a16:creationId xmlns:a16="http://schemas.microsoft.com/office/drawing/2014/main" id="{1DE7D246-31E3-49A9-D794-233D091EC79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418CA782-7873-67EB-6D65-F633423004A8}"/>
              </a:ext>
            </a:extLst>
          </p:cNvPr>
          <p:cNvSpPr/>
          <p:nvPr/>
        </p:nvSpPr>
        <p:spPr>
          <a:xfrm>
            <a:off x="142611" y="1387701"/>
            <a:ext cx="3886200" cy="336448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ángulo 16">
            <a:extLst>
              <a:ext uri="{FF2B5EF4-FFF2-40B4-BE49-F238E27FC236}">
                <a16:creationId xmlns:a16="http://schemas.microsoft.com/office/drawing/2014/main" id="{D61AEA96-30D7-3140-4BD0-BB39B3B4F6D1}"/>
              </a:ext>
            </a:extLst>
          </p:cNvPr>
          <p:cNvSpPr/>
          <p:nvPr/>
        </p:nvSpPr>
        <p:spPr>
          <a:xfrm>
            <a:off x="4163705" y="1401225"/>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3D0D0CAB-C35C-E402-8024-B2ECCE2B46FE}"/>
              </a:ext>
            </a:extLst>
          </p:cNvPr>
          <p:cNvSpPr/>
          <p:nvPr/>
        </p:nvSpPr>
        <p:spPr>
          <a:xfrm>
            <a:off x="8174863" y="1389766"/>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uadroTexto 26">
            <a:extLst>
              <a:ext uri="{FF2B5EF4-FFF2-40B4-BE49-F238E27FC236}">
                <a16:creationId xmlns:a16="http://schemas.microsoft.com/office/drawing/2014/main" id="{F114AB94-EA47-556E-E6E4-0C281B7DB680}"/>
              </a:ext>
            </a:extLst>
          </p:cNvPr>
          <p:cNvSpPr txBox="1"/>
          <p:nvPr/>
        </p:nvSpPr>
        <p:spPr>
          <a:xfrm>
            <a:off x="561976" y="1008369"/>
            <a:ext cx="3410291" cy="369332"/>
          </a:xfrm>
          <a:prstGeom prst="rect">
            <a:avLst/>
          </a:prstGeom>
          <a:noFill/>
        </p:spPr>
        <p:txBody>
          <a:bodyPr wrap="square" rtlCol="0">
            <a:spAutoFit/>
          </a:bodyPr>
          <a:lstStyle/>
          <a:p>
            <a:r>
              <a:rPr lang="es-ES" b="1" dirty="0"/>
              <a:t>Para </a:t>
            </a:r>
            <a:r>
              <a:rPr lang="es-ES" b="1" dirty="0" err="1"/>
              <a:t>m.dL_MMI</a:t>
            </a:r>
            <a:r>
              <a:rPr lang="es-ES" b="1" dirty="0"/>
              <a:t> = -1  y </a:t>
            </a:r>
            <a:r>
              <a:rPr lang="es-ES" b="1" dirty="0" err="1"/>
              <a:t>dy</a:t>
            </a:r>
            <a:r>
              <a:rPr lang="es-ES" b="1" dirty="0"/>
              <a:t> = 0.1</a:t>
            </a:r>
          </a:p>
        </p:txBody>
      </p:sp>
      <p:sp>
        <p:nvSpPr>
          <p:cNvPr id="28" name="Rectángulo 27">
            <a:extLst>
              <a:ext uri="{FF2B5EF4-FFF2-40B4-BE49-F238E27FC236}">
                <a16:creationId xmlns:a16="http://schemas.microsoft.com/office/drawing/2014/main" id="{F19163C7-1D53-3E07-B000-56D27E8861A7}"/>
              </a:ext>
            </a:extLst>
          </p:cNvPr>
          <p:cNvSpPr/>
          <p:nvPr/>
        </p:nvSpPr>
        <p:spPr>
          <a:xfrm>
            <a:off x="142611" y="998369"/>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ángulo 28">
            <a:extLst>
              <a:ext uri="{FF2B5EF4-FFF2-40B4-BE49-F238E27FC236}">
                <a16:creationId xmlns:a16="http://schemas.microsoft.com/office/drawing/2014/main" id="{74C448EC-D25C-1B0D-79FC-A34B0447654A}"/>
              </a:ext>
            </a:extLst>
          </p:cNvPr>
          <p:cNvSpPr/>
          <p:nvPr/>
        </p:nvSpPr>
        <p:spPr>
          <a:xfrm>
            <a:off x="8173091" y="998082"/>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ángulo 29">
            <a:extLst>
              <a:ext uri="{FF2B5EF4-FFF2-40B4-BE49-F238E27FC236}">
                <a16:creationId xmlns:a16="http://schemas.microsoft.com/office/drawing/2014/main" id="{E44C077C-87FF-E79F-6FB8-96E99239178B}"/>
              </a:ext>
            </a:extLst>
          </p:cNvPr>
          <p:cNvSpPr/>
          <p:nvPr/>
        </p:nvSpPr>
        <p:spPr>
          <a:xfrm>
            <a:off x="4163705" y="998083"/>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uadroTexto 32">
            <a:extLst>
              <a:ext uri="{FF2B5EF4-FFF2-40B4-BE49-F238E27FC236}">
                <a16:creationId xmlns:a16="http://schemas.microsoft.com/office/drawing/2014/main" id="{4AAD584C-50AF-EEDF-FBB9-0A7A8D6B9400}"/>
              </a:ext>
            </a:extLst>
          </p:cNvPr>
          <p:cNvSpPr txBox="1"/>
          <p:nvPr/>
        </p:nvSpPr>
        <p:spPr>
          <a:xfrm>
            <a:off x="137660" y="4903455"/>
            <a:ext cx="11916680"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El parámetro </a:t>
            </a:r>
            <a:r>
              <a:rPr lang="es-ES" sz="1200" b="1" dirty="0" err="1"/>
              <a:t>dy</a:t>
            </a:r>
            <a:r>
              <a:rPr lang="es-ES" sz="1200" dirty="0"/>
              <a:t> es el desplazamiento lateral de las guías de salida respecto al eje central del patrón de interferencia dentro del MMI. Si ese desplazamiento es grande, como </a:t>
            </a:r>
            <a:r>
              <a:rPr lang="es-ES" sz="1200" b="1" dirty="0"/>
              <a:t>-0.5 o 0.5</a:t>
            </a:r>
            <a:r>
              <a:rPr lang="es-ES" sz="1200" dirty="0"/>
              <a:t>, las guías quedan desalineadas, de modo que ya no recogen bien la energía del campo: esto provoca pérdidas altas (por encima de 3 dB) y además un reparto muy desigual de la potencia entre salidas. En cambio, cuando el ajuste es fino, por ejemplo </a:t>
            </a:r>
            <a:r>
              <a:rPr lang="es-ES" sz="1200" b="1" dirty="0" err="1"/>
              <a:t>dy</a:t>
            </a:r>
            <a:r>
              <a:rPr lang="es-ES" sz="1200" b="1" dirty="0"/>
              <a:t> = 0.1</a:t>
            </a:r>
            <a:r>
              <a:rPr lang="es-ES" sz="1200" dirty="0"/>
              <a:t>, las guías se recolocan ligeramente hasta coincidir mejor con los máximos del patrón, aprovechando mucho más la energía disponible y manteniendo un acoplo más equilibrado.</a:t>
            </a:r>
          </a:p>
        </p:txBody>
      </p:sp>
      <p:sp>
        <p:nvSpPr>
          <p:cNvPr id="2" name="object 16">
            <a:extLst>
              <a:ext uri="{FF2B5EF4-FFF2-40B4-BE49-F238E27FC236}">
                <a16:creationId xmlns:a16="http://schemas.microsoft.com/office/drawing/2014/main" id="{EFB44911-B6DF-8AC6-8662-7BC06A34F226}"/>
              </a:ext>
            </a:extLst>
          </p:cNvPr>
          <p:cNvSpPr txBox="1">
            <a:spLocks/>
          </p:cNvSpPr>
          <p:nvPr/>
        </p:nvSpPr>
        <p:spPr>
          <a:xfrm>
            <a:off x="777063" y="108382"/>
            <a:ext cx="10994410" cy="705321"/>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#6.2 – 2x2 Multimode Interference Coupler - Optimization</a:t>
            </a:r>
            <a:br>
              <a:rPr lang="en-US" sz="2500" kern="0" dirty="0"/>
            </a:br>
            <a:r>
              <a:rPr lang="en-US" b="0" kern="0" dirty="0"/>
              <a:t>Wavelength 1.55 µm, </a:t>
            </a:r>
            <a:r>
              <a:rPr lang="en-US" b="0" kern="0" dirty="0" err="1"/>
              <a:t>wMMI</a:t>
            </a:r>
            <a:r>
              <a:rPr lang="en-US" b="0" kern="0" dirty="0"/>
              <a:t> = 6.6 µm</a:t>
            </a:r>
            <a:endParaRPr lang="en-US" sz="2500" b="0" kern="0" dirty="0">
              <a:latin typeface="+mj-lt"/>
              <a:cs typeface="Lucida Sans"/>
            </a:endParaRPr>
          </a:p>
        </p:txBody>
      </p:sp>
      <p:sp>
        <p:nvSpPr>
          <p:cNvPr id="6" name="CuadroTexto 5">
            <a:extLst>
              <a:ext uri="{FF2B5EF4-FFF2-40B4-BE49-F238E27FC236}">
                <a16:creationId xmlns:a16="http://schemas.microsoft.com/office/drawing/2014/main" id="{264159CC-BD98-2BC7-810F-9021E9CF92F0}"/>
              </a:ext>
            </a:extLst>
          </p:cNvPr>
          <p:cNvSpPr txBox="1"/>
          <p:nvPr/>
        </p:nvSpPr>
        <p:spPr>
          <a:xfrm>
            <a:off x="4467669" y="1013053"/>
            <a:ext cx="3410291" cy="369332"/>
          </a:xfrm>
          <a:prstGeom prst="rect">
            <a:avLst/>
          </a:prstGeom>
          <a:noFill/>
        </p:spPr>
        <p:txBody>
          <a:bodyPr wrap="square" rtlCol="0">
            <a:spAutoFit/>
          </a:bodyPr>
          <a:lstStyle/>
          <a:p>
            <a:r>
              <a:rPr lang="es-ES" b="1" dirty="0"/>
              <a:t>Para </a:t>
            </a:r>
            <a:r>
              <a:rPr lang="es-ES" b="1" dirty="0" err="1"/>
              <a:t>m.dL_MMI</a:t>
            </a:r>
            <a:r>
              <a:rPr lang="es-ES" b="1" dirty="0"/>
              <a:t> = -1  y </a:t>
            </a:r>
            <a:r>
              <a:rPr lang="es-ES" b="1" dirty="0" err="1"/>
              <a:t>dy</a:t>
            </a:r>
            <a:r>
              <a:rPr lang="es-ES" b="1" dirty="0"/>
              <a:t> = 0.5</a:t>
            </a:r>
          </a:p>
        </p:txBody>
      </p:sp>
      <p:sp>
        <p:nvSpPr>
          <p:cNvPr id="8" name="CuadroTexto 7">
            <a:extLst>
              <a:ext uri="{FF2B5EF4-FFF2-40B4-BE49-F238E27FC236}">
                <a16:creationId xmlns:a16="http://schemas.microsoft.com/office/drawing/2014/main" id="{B38D7256-3423-F330-D938-C095A1E10C50}"/>
              </a:ext>
            </a:extLst>
          </p:cNvPr>
          <p:cNvSpPr txBox="1"/>
          <p:nvPr/>
        </p:nvSpPr>
        <p:spPr>
          <a:xfrm>
            <a:off x="8534400" y="1008369"/>
            <a:ext cx="3410291" cy="369332"/>
          </a:xfrm>
          <a:prstGeom prst="rect">
            <a:avLst/>
          </a:prstGeom>
          <a:noFill/>
        </p:spPr>
        <p:txBody>
          <a:bodyPr wrap="square" rtlCol="0">
            <a:spAutoFit/>
          </a:bodyPr>
          <a:lstStyle/>
          <a:p>
            <a:r>
              <a:rPr lang="es-ES" b="1" dirty="0"/>
              <a:t>Para </a:t>
            </a:r>
            <a:r>
              <a:rPr lang="es-ES" b="1" dirty="0" err="1"/>
              <a:t>m.dL_MMI</a:t>
            </a:r>
            <a:r>
              <a:rPr lang="es-ES" b="1" dirty="0"/>
              <a:t> = -1  y </a:t>
            </a:r>
            <a:r>
              <a:rPr lang="es-ES" b="1" dirty="0" err="1"/>
              <a:t>dy</a:t>
            </a:r>
            <a:r>
              <a:rPr lang="es-ES" b="1" dirty="0"/>
              <a:t> = -0.5</a:t>
            </a:r>
          </a:p>
        </p:txBody>
      </p:sp>
      <p:pic>
        <p:nvPicPr>
          <p:cNvPr id="12" name="Imagen 11">
            <a:extLst>
              <a:ext uri="{FF2B5EF4-FFF2-40B4-BE49-F238E27FC236}">
                <a16:creationId xmlns:a16="http://schemas.microsoft.com/office/drawing/2014/main" id="{3E3EB15D-1C03-609E-CFD8-33D135E5BAEB}"/>
              </a:ext>
            </a:extLst>
          </p:cNvPr>
          <p:cNvPicPr>
            <a:picLocks noChangeAspect="1"/>
          </p:cNvPicPr>
          <p:nvPr/>
        </p:nvPicPr>
        <p:blipFill>
          <a:blip r:embed="rId4"/>
          <a:stretch>
            <a:fillRect/>
          </a:stretch>
        </p:blipFill>
        <p:spPr>
          <a:xfrm>
            <a:off x="8246249" y="1427361"/>
            <a:ext cx="3765105" cy="3166111"/>
          </a:xfrm>
          <a:prstGeom prst="rect">
            <a:avLst/>
          </a:prstGeom>
        </p:spPr>
      </p:pic>
      <p:pic>
        <p:nvPicPr>
          <p:cNvPr id="14" name="Imagen 13">
            <a:extLst>
              <a:ext uri="{FF2B5EF4-FFF2-40B4-BE49-F238E27FC236}">
                <a16:creationId xmlns:a16="http://schemas.microsoft.com/office/drawing/2014/main" id="{10797398-D993-3E70-A74F-6FD95983FF12}"/>
              </a:ext>
            </a:extLst>
          </p:cNvPr>
          <p:cNvPicPr>
            <a:picLocks noChangeAspect="1"/>
          </p:cNvPicPr>
          <p:nvPr/>
        </p:nvPicPr>
        <p:blipFill>
          <a:blip r:embed="rId5"/>
          <a:stretch>
            <a:fillRect/>
          </a:stretch>
        </p:blipFill>
        <p:spPr>
          <a:xfrm>
            <a:off x="4170793" y="1429254"/>
            <a:ext cx="3830207" cy="3207602"/>
          </a:xfrm>
          <a:prstGeom prst="rect">
            <a:avLst/>
          </a:prstGeom>
        </p:spPr>
      </p:pic>
      <p:pic>
        <p:nvPicPr>
          <p:cNvPr id="16" name="Imagen 15">
            <a:extLst>
              <a:ext uri="{FF2B5EF4-FFF2-40B4-BE49-F238E27FC236}">
                <a16:creationId xmlns:a16="http://schemas.microsoft.com/office/drawing/2014/main" id="{7EFB1A0B-38D8-2FCD-921A-3079BD175BC0}"/>
              </a:ext>
            </a:extLst>
          </p:cNvPr>
          <p:cNvPicPr>
            <a:picLocks noChangeAspect="1"/>
          </p:cNvPicPr>
          <p:nvPr/>
        </p:nvPicPr>
        <p:blipFill>
          <a:blip r:embed="rId6"/>
          <a:stretch>
            <a:fillRect/>
          </a:stretch>
        </p:blipFill>
        <p:spPr>
          <a:xfrm>
            <a:off x="180647" y="1427361"/>
            <a:ext cx="3854222" cy="3223821"/>
          </a:xfrm>
          <a:prstGeom prst="rect">
            <a:avLst/>
          </a:prstGeom>
        </p:spPr>
      </p:pic>
    </p:spTree>
    <p:extLst>
      <p:ext uri="{BB962C8B-B14F-4D97-AF65-F5344CB8AC3E}">
        <p14:creationId xmlns:p14="http://schemas.microsoft.com/office/powerpoint/2010/main" val="4223116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BFC5-8CA0-5A75-1A5E-84F2B914C845}"/>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BC544645-16F2-53E7-F325-6EB3541AD2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D2CA90A-CF16-42DF-DD33-D53EFA1135EC}"/>
              </a:ext>
            </a:extLst>
          </p:cNvPr>
          <p:cNvSpPr>
            <a:spLocks noGrp="1"/>
          </p:cNvSpPr>
          <p:nvPr>
            <p:ph type="sldNum" sz="quarter" idx="7"/>
          </p:nvPr>
        </p:nvSpPr>
        <p:spPr/>
        <p:txBody>
          <a:bodyPr/>
          <a:lstStyle/>
          <a:p>
            <a:fld id="{B6F15528-21DE-4FAA-801E-634DDDAF4B2B}" type="slidenum">
              <a:rPr lang="es-ES" smtClean="0"/>
              <a:t>15</a:t>
            </a:fld>
            <a:endParaRPr lang="es-ES" dirty="0"/>
          </a:p>
        </p:txBody>
      </p:sp>
      <p:sp>
        <p:nvSpPr>
          <p:cNvPr id="3" name="Marcador de pie de página 2">
            <a:extLst>
              <a:ext uri="{FF2B5EF4-FFF2-40B4-BE49-F238E27FC236}">
                <a16:creationId xmlns:a16="http://schemas.microsoft.com/office/drawing/2014/main" id="{26DA4492-BB83-0439-67B7-AD11718B1A7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B0B922CE-22E7-2EE7-D4AD-56F50862D321}"/>
              </a:ext>
            </a:extLst>
          </p:cNvPr>
          <p:cNvSpPr/>
          <p:nvPr/>
        </p:nvSpPr>
        <p:spPr>
          <a:xfrm>
            <a:off x="142611" y="1387701"/>
            <a:ext cx="3886200" cy="336448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ángulo 16">
            <a:extLst>
              <a:ext uri="{FF2B5EF4-FFF2-40B4-BE49-F238E27FC236}">
                <a16:creationId xmlns:a16="http://schemas.microsoft.com/office/drawing/2014/main" id="{68B38B1C-6D1A-59E2-D274-B2311BA0ACE5}"/>
              </a:ext>
            </a:extLst>
          </p:cNvPr>
          <p:cNvSpPr/>
          <p:nvPr/>
        </p:nvSpPr>
        <p:spPr>
          <a:xfrm>
            <a:off x="4163705" y="1401225"/>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55AC1602-B69D-D0EA-8638-2AEFDFE50B91}"/>
              </a:ext>
            </a:extLst>
          </p:cNvPr>
          <p:cNvSpPr/>
          <p:nvPr/>
        </p:nvSpPr>
        <p:spPr>
          <a:xfrm>
            <a:off x="8174863" y="1389766"/>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uadroTexto 26">
            <a:extLst>
              <a:ext uri="{FF2B5EF4-FFF2-40B4-BE49-F238E27FC236}">
                <a16:creationId xmlns:a16="http://schemas.microsoft.com/office/drawing/2014/main" id="{F913DF87-12CC-6EC2-BB27-E33C7A15E408}"/>
              </a:ext>
            </a:extLst>
          </p:cNvPr>
          <p:cNvSpPr txBox="1"/>
          <p:nvPr/>
        </p:nvSpPr>
        <p:spPr>
          <a:xfrm>
            <a:off x="561976" y="1008369"/>
            <a:ext cx="3410291" cy="369332"/>
          </a:xfrm>
          <a:prstGeom prst="rect">
            <a:avLst/>
          </a:prstGeom>
          <a:noFill/>
        </p:spPr>
        <p:txBody>
          <a:bodyPr wrap="square" rtlCol="0">
            <a:spAutoFit/>
          </a:bodyPr>
          <a:lstStyle/>
          <a:p>
            <a:r>
              <a:rPr lang="es-ES" b="1" dirty="0"/>
              <a:t>Para </a:t>
            </a:r>
            <a:r>
              <a:rPr lang="es-ES" b="1" dirty="0" err="1"/>
              <a:t>m.dL_MMI</a:t>
            </a:r>
            <a:r>
              <a:rPr lang="es-ES" b="1" dirty="0"/>
              <a:t> = -5  y </a:t>
            </a:r>
            <a:r>
              <a:rPr lang="es-ES" b="1" dirty="0" err="1"/>
              <a:t>dy</a:t>
            </a:r>
            <a:r>
              <a:rPr lang="es-ES" b="1" dirty="0"/>
              <a:t> = 0.1</a:t>
            </a:r>
          </a:p>
        </p:txBody>
      </p:sp>
      <p:sp>
        <p:nvSpPr>
          <p:cNvPr id="28" name="Rectángulo 27">
            <a:extLst>
              <a:ext uri="{FF2B5EF4-FFF2-40B4-BE49-F238E27FC236}">
                <a16:creationId xmlns:a16="http://schemas.microsoft.com/office/drawing/2014/main" id="{1539081B-1DD9-F08D-4964-E201B032551C}"/>
              </a:ext>
            </a:extLst>
          </p:cNvPr>
          <p:cNvSpPr/>
          <p:nvPr/>
        </p:nvSpPr>
        <p:spPr>
          <a:xfrm>
            <a:off x="142611" y="998369"/>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ángulo 28">
            <a:extLst>
              <a:ext uri="{FF2B5EF4-FFF2-40B4-BE49-F238E27FC236}">
                <a16:creationId xmlns:a16="http://schemas.microsoft.com/office/drawing/2014/main" id="{4C374762-A318-EE3F-EB91-D4C35B8E43DA}"/>
              </a:ext>
            </a:extLst>
          </p:cNvPr>
          <p:cNvSpPr/>
          <p:nvPr/>
        </p:nvSpPr>
        <p:spPr>
          <a:xfrm>
            <a:off x="8173091" y="998082"/>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ángulo 29">
            <a:extLst>
              <a:ext uri="{FF2B5EF4-FFF2-40B4-BE49-F238E27FC236}">
                <a16:creationId xmlns:a16="http://schemas.microsoft.com/office/drawing/2014/main" id="{B437730A-6973-75AF-11E2-E7A1706297C2}"/>
              </a:ext>
            </a:extLst>
          </p:cNvPr>
          <p:cNvSpPr/>
          <p:nvPr/>
        </p:nvSpPr>
        <p:spPr>
          <a:xfrm>
            <a:off x="4163705" y="998083"/>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uadroTexto 32">
            <a:extLst>
              <a:ext uri="{FF2B5EF4-FFF2-40B4-BE49-F238E27FC236}">
                <a16:creationId xmlns:a16="http://schemas.microsoft.com/office/drawing/2014/main" id="{5C308F1C-0B4B-5ACA-0FE4-9DB304F09AA6}"/>
              </a:ext>
            </a:extLst>
          </p:cNvPr>
          <p:cNvSpPr txBox="1"/>
          <p:nvPr/>
        </p:nvSpPr>
        <p:spPr>
          <a:xfrm>
            <a:off x="137660" y="4903455"/>
            <a:ext cx="11916680"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El parámetro </a:t>
            </a:r>
            <a:r>
              <a:rPr lang="es-ES" sz="1200" b="1" dirty="0" err="1"/>
              <a:t>dL</a:t>
            </a:r>
            <a:r>
              <a:rPr lang="es-ES" sz="1200" b="1" dirty="0"/>
              <a:t>_{MMI}</a:t>
            </a:r>
            <a:r>
              <a:rPr lang="es-ES" sz="1200" dirty="0"/>
              <a:t> mide cuánto nos alejamos de la longitud inicial (34.5180 µm), que es donde la interferencia de los modos da el reparto ideal de potencia. Si alargamos el dispositivo (+5 µm), nos pasamos de ese punto: la interferencia ya se ha formado y empieza a degradarse, lo que aumenta las pérdidas y rompe la simetría. Si lo acortamos (-5 µm), la interferencia no llega a completarse. Hay menos pérdidas que en el caso anterior, pero el reparto de potencia queda desbalanceado porque los modos no han alcanzado el desfase necesario. Lo ideal sería un valor de </a:t>
            </a:r>
            <a:r>
              <a:rPr lang="es-ES" sz="1200" b="1" dirty="0" err="1"/>
              <a:t>dL</a:t>
            </a:r>
            <a:r>
              <a:rPr lang="es-ES" sz="1200" dirty="0"/>
              <a:t> donde el reparto de potencia, las perdidas y </a:t>
            </a:r>
            <a:r>
              <a:rPr lang="es-ES" sz="1200" dirty="0" err="1"/>
              <a:t>sobretodo</a:t>
            </a:r>
            <a:r>
              <a:rPr lang="es-ES" sz="1200" dirty="0"/>
              <a:t> las </a:t>
            </a:r>
            <a:r>
              <a:rPr lang="es-ES" sz="1200" dirty="0" err="1"/>
              <a:t>intereferencias</a:t>
            </a:r>
            <a:r>
              <a:rPr lang="es-ES" sz="1200" dirty="0"/>
              <a:t> de los modos se acoplen adecuadamente en un punto intermedio. </a:t>
            </a:r>
          </a:p>
        </p:txBody>
      </p:sp>
      <p:sp>
        <p:nvSpPr>
          <p:cNvPr id="2" name="object 16">
            <a:extLst>
              <a:ext uri="{FF2B5EF4-FFF2-40B4-BE49-F238E27FC236}">
                <a16:creationId xmlns:a16="http://schemas.microsoft.com/office/drawing/2014/main" id="{FE5FDD86-9E71-9D14-7830-BEEA4E125E8A}"/>
              </a:ext>
            </a:extLst>
          </p:cNvPr>
          <p:cNvSpPr txBox="1">
            <a:spLocks/>
          </p:cNvSpPr>
          <p:nvPr/>
        </p:nvSpPr>
        <p:spPr>
          <a:xfrm>
            <a:off x="777063" y="108382"/>
            <a:ext cx="10994410" cy="705321"/>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#6.2 – 2x2 Multimode Interference Coupler - Optimization</a:t>
            </a:r>
            <a:br>
              <a:rPr lang="en-US" sz="2500" kern="0" dirty="0"/>
            </a:br>
            <a:r>
              <a:rPr lang="en-US" b="0" kern="0" dirty="0"/>
              <a:t>Wavelength 1.55 µm, </a:t>
            </a:r>
            <a:r>
              <a:rPr lang="en-US" b="0" kern="0" dirty="0" err="1"/>
              <a:t>wMMI</a:t>
            </a:r>
            <a:r>
              <a:rPr lang="en-US" b="0" kern="0" dirty="0"/>
              <a:t> = 6.6 µm</a:t>
            </a:r>
            <a:endParaRPr lang="en-US" sz="2500" b="0" kern="0" dirty="0">
              <a:latin typeface="+mj-lt"/>
              <a:cs typeface="Lucida Sans"/>
            </a:endParaRPr>
          </a:p>
        </p:txBody>
      </p:sp>
      <p:sp>
        <p:nvSpPr>
          <p:cNvPr id="6" name="CuadroTexto 5">
            <a:extLst>
              <a:ext uri="{FF2B5EF4-FFF2-40B4-BE49-F238E27FC236}">
                <a16:creationId xmlns:a16="http://schemas.microsoft.com/office/drawing/2014/main" id="{C9CCEC37-A8F3-B337-1FA0-C1D4FBD5891F}"/>
              </a:ext>
            </a:extLst>
          </p:cNvPr>
          <p:cNvSpPr txBox="1"/>
          <p:nvPr/>
        </p:nvSpPr>
        <p:spPr>
          <a:xfrm>
            <a:off x="4467669" y="1013053"/>
            <a:ext cx="3410291" cy="369332"/>
          </a:xfrm>
          <a:prstGeom prst="rect">
            <a:avLst/>
          </a:prstGeom>
          <a:noFill/>
        </p:spPr>
        <p:txBody>
          <a:bodyPr wrap="square" rtlCol="0">
            <a:spAutoFit/>
          </a:bodyPr>
          <a:lstStyle/>
          <a:p>
            <a:r>
              <a:rPr lang="es-ES" b="1" dirty="0"/>
              <a:t>Para </a:t>
            </a:r>
            <a:r>
              <a:rPr lang="es-ES" b="1" dirty="0" err="1"/>
              <a:t>m.dL_MMI</a:t>
            </a:r>
            <a:r>
              <a:rPr lang="es-ES" b="1" dirty="0"/>
              <a:t> = 0  y </a:t>
            </a:r>
            <a:r>
              <a:rPr lang="es-ES" b="1" dirty="0" err="1"/>
              <a:t>dy</a:t>
            </a:r>
            <a:r>
              <a:rPr lang="es-ES" b="1" dirty="0"/>
              <a:t> = 0.1</a:t>
            </a:r>
          </a:p>
        </p:txBody>
      </p:sp>
      <p:sp>
        <p:nvSpPr>
          <p:cNvPr id="8" name="CuadroTexto 7">
            <a:extLst>
              <a:ext uri="{FF2B5EF4-FFF2-40B4-BE49-F238E27FC236}">
                <a16:creationId xmlns:a16="http://schemas.microsoft.com/office/drawing/2014/main" id="{ABC9D1A6-714C-0636-566C-450C3FA88FB9}"/>
              </a:ext>
            </a:extLst>
          </p:cNvPr>
          <p:cNvSpPr txBox="1"/>
          <p:nvPr/>
        </p:nvSpPr>
        <p:spPr>
          <a:xfrm>
            <a:off x="8534400" y="1008369"/>
            <a:ext cx="3410291" cy="369332"/>
          </a:xfrm>
          <a:prstGeom prst="rect">
            <a:avLst/>
          </a:prstGeom>
          <a:noFill/>
        </p:spPr>
        <p:txBody>
          <a:bodyPr wrap="square" rtlCol="0">
            <a:spAutoFit/>
          </a:bodyPr>
          <a:lstStyle/>
          <a:p>
            <a:r>
              <a:rPr lang="es-ES" b="1" dirty="0"/>
              <a:t>Para </a:t>
            </a:r>
            <a:r>
              <a:rPr lang="es-ES" b="1" dirty="0" err="1"/>
              <a:t>m.dL_MMI</a:t>
            </a:r>
            <a:r>
              <a:rPr lang="es-ES" b="1" dirty="0"/>
              <a:t> = 5  y </a:t>
            </a:r>
            <a:r>
              <a:rPr lang="es-ES" b="1" dirty="0" err="1"/>
              <a:t>dy</a:t>
            </a:r>
            <a:r>
              <a:rPr lang="es-ES" b="1" dirty="0"/>
              <a:t> = 0.1</a:t>
            </a:r>
          </a:p>
        </p:txBody>
      </p:sp>
      <p:pic>
        <p:nvPicPr>
          <p:cNvPr id="5" name="Imagen 4">
            <a:extLst>
              <a:ext uri="{FF2B5EF4-FFF2-40B4-BE49-F238E27FC236}">
                <a16:creationId xmlns:a16="http://schemas.microsoft.com/office/drawing/2014/main" id="{555E1F0D-1E6E-90EE-D5E7-0FCCA5BBE0A7}"/>
              </a:ext>
            </a:extLst>
          </p:cNvPr>
          <p:cNvPicPr>
            <a:picLocks noChangeAspect="1"/>
          </p:cNvPicPr>
          <p:nvPr/>
        </p:nvPicPr>
        <p:blipFill>
          <a:blip r:embed="rId4"/>
          <a:stretch>
            <a:fillRect/>
          </a:stretch>
        </p:blipFill>
        <p:spPr>
          <a:xfrm>
            <a:off x="4170794" y="1407988"/>
            <a:ext cx="3857520" cy="3221311"/>
          </a:xfrm>
          <a:prstGeom prst="rect">
            <a:avLst/>
          </a:prstGeom>
        </p:spPr>
      </p:pic>
      <p:pic>
        <p:nvPicPr>
          <p:cNvPr id="9" name="Imagen 8">
            <a:extLst>
              <a:ext uri="{FF2B5EF4-FFF2-40B4-BE49-F238E27FC236}">
                <a16:creationId xmlns:a16="http://schemas.microsoft.com/office/drawing/2014/main" id="{16186538-1824-5EBE-BA40-07F455ADA835}"/>
              </a:ext>
            </a:extLst>
          </p:cNvPr>
          <p:cNvPicPr>
            <a:picLocks noChangeAspect="1"/>
          </p:cNvPicPr>
          <p:nvPr/>
        </p:nvPicPr>
        <p:blipFill>
          <a:blip r:embed="rId5"/>
          <a:stretch>
            <a:fillRect/>
          </a:stretch>
        </p:blipFill>
        <p:spPr>
          <a:xfrm>
            <a:off x="189638" y="1424282"/>
            <a:ext cx="3821286" cy="3263435"/>
          </a:xfrm>
          <a:prstGeom prst="rect">
            <a:avLst/>
          </a:prstGeom>
        </p:spPr>
      </p:pic>
      <p:pic>
        <p:nvPicPr>
          <p:cNvPr id="12" name="Imagen 11">
            <a:extLst>
              <a:ext uri="{FF2B5EF4-FFF2-40B4-BE49-F238E27FC236}">
                <a16:creationId xmlns:a16="http://schemas.microsoft.com/office/drawing/2014/main" id="{E2C27B6B-7FA2-CF73-AAB4-BF91BB6E9FAD}"/>
              </a:ext>
            </a:extLst>
          </p:cNvPr>
          <p:cNvPicPr>
            <a:picLocks noChangeAspect="1"/>
          </p:cNvPicPr>
          <p:nvPr/>
        </p:nvPicPr>
        <p:blipFill>
          <a:blip r:embed="rId6"/>
          <a:stretch>
            <a:fillRect/>
          </a:stretch>
        </p:blipFill>
        <p:spPr>
          <a:xfrm>
            <a:off x="8234578" y="1485069"/>
            <a:ext cx="3820058" cy="3086531"/>
          </a:xfrm>
          <a:prstGeom prst="rect">
            <a:avLst/>
          </a:prstGeom>
        </p:spPr>
      </p:pic>
    </p:spTree>
    <p:extLst>
      <p:ext uri="{BB962C8B-B14F-4D97-AF65-F5344CB8AC3E}">
        <p14:creationId xmlns:p14="http://schemas.microsoft.com/office/powerpoint/2010/main" val="152707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6000" y="1290677"/>
            <a:ext cx="5279410" cy="4154984"/>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Para cumplir el objetivo de optimización hay que entender que el MMI no se comporta como algo fijo, sino como un sistema donde la luz va repartiéndose entre varios modos que interfieren entre sí, y eso hace que la </a:t>
            </a:r>
            <a:r>
              <a:rPr lang="es-ES" sz="1200" dirty="0" err="1"/>
              <a:t>auto-imagen</a:t>
            </a:r>
            <a:r>
              <a:rPr lang="es-ES" sz="1200" dirty="0"/>
              <a:t> dependa tanto de la forma del dispositivo como de dónde colocamos las salidas. En ese sentido, </a:t>
            </a:r>
            <a:r>
              <a:rPr lang="es-ES" sz="1200" b="1" dirty="0" err="1"/>
              <a:t>dL</a:t>
            </a:r>
            <a:r>
              <a:rPr lang="es-ES" sz="1200" b="1" dirty="0"/>
              <a:t>_{MMI} y </a:t>
            </a:r>
            <a:r>
              <a:rPr lang="es-ES" sz="1200" b="1" dirty="0" err="1"/>
              <a:t>dy</a:t>
            </a:r>
            <a:r>
              <a:rPr lang="es-ES" sz="1200" b="1" dirty="0"/>
              <a:t> </a:t>
            </a:r>
            <a:r>
              <a:rPr lang="es-ES" sz="1200" dirty="0"/>
              <a:t>están ligados: el primero mueve a lo largo del dispositivo el punto donde aparece la imagen (como elegir en qué parte de la propagación miras el resultado), mientras que el segundo ajusta qué parte de esa imagen capturas lateralmente. Por eso no tiene sentido optimizar cada uno por separado, ya que el máximo de potencia no siempre coincide con el punto donde el reparto es más equilibrado; de hecho, a veces es mejor aceptar una pequeña pérdida de transmisión ajustando </a:t>
            </a:r>
            <a:r>
              <a:rPr lang="es-ES" sz="1200" b="1" dirty="0" err="1"/>
              <a:t>dL</a:t>
            </a:r>
            <a:r>
              <a:rPr lang="es-ES" sz="1200" b="1" dirty="0"/>
              <a:t>_{MMI} a -1.0 </a:t>
            </a:r>
            <a:r>
              <a:rPr lang="es-ES" sz="1200" dirty="0"/>
              <a:t>si con eso se corrigen las asimetrías del campo, consiguiendo un reparto más simétrico. </a:t>
            </a:r>
          </a:p>
          <a:p>
            <a:pPr algn="just"/>
            <a:endParaRPr lang="es-ES" sz="1200" dirty="0"/>
          </a:p>
          <a:p>
            <a:pPr algn="just"/>
            <a:r>
              <a:rPr lang="es-ES" sz="1200" dirty="0"/>
              <a:t>Si tuviéramos que afinar el diseño a partir de los resultados que hemos obtenido, nos quedaríamos con un ajuste bastante cercano a los puntos donde ya se ve el mejor comportamiento, sin irme a extremos. Para </a:t>
            </a:r>
            <a:r>
              <a:rPr lang="es-ES" sz="1200" b="1" dirty="0" err="1"/>
              <a:t>dy</a:t>
            </a:r>
            <a:r>
              <a:rPr lang="es-ES" sz="1200" dirty="0"/>
              <a:t>, un valor intermedio como </a:t>
            </a:r>
            <a:r>
              <a:rPr lang="es-ES" sz="1200" b="1" dirty="0"/>
              <a:t>0.05–0.08</a:t>
            </a:r>
            <a:r>
              <a:rPr lang="es-ES" sz="1200" dirty="0"/>
              <a:t> tendría sentido, ya que probablemente mantiene la mejora en el acoplo sin estar demasiado el sistema hacia el lado contrario. En cuanto a </a:t>
            </a:r>
            <a:r>
              <a:rPr lang="es-ES" sz="1200" b="1" dirty="0" err="1"/>
              <a:t>dL</a:t>
            </a:r>
            <a:r>
              <a:rPr lang="es-ES" sz="1200" b="1" dirty="0"/>
              <a:t>_{MMI}, </a:t>
            </a:r>
            <a:r>
              <a:rPr lang="es-ES" sz="1200" dirty="0"/>
              <a:t>el comportamiento es más estable: alrededor de </a:t>
            </a:r>
            <a:r>
              <a:rPr lang="es-ES" sz="1200" b="1" dirty="0"/>
              <a:t>-1.0 </a:t>
            </a:r>
            <a:r>
              <a:rPr lang="es-ES" sz="1200" dirty="0"/>
              <a:t>ya se consigue una buena simetría, así que lo lógico es que el óptimo esté muy cerca de ese punto, en un rango aproximado de </a:t>
            </a:r>
            <a:r>
              <a:rPr lang="es-ES" sz="1200" b="1" dirty="0"/>
              <a:t>-1.1 a -0.9. En la siguiente imagen, hemos conseguido muy cerca el punto óptimo para los valores de dl_{MMI} = -0.8 y un </a:t>
            </a:r>
            <a:r>
              <a:rPr lang="es-ES" sz="1200" b="1" dirty="0" err="1"/>
              <a:t>dy</a:t>
            </a:r>
            <a:r>
              <a:rPr lang="es-ES" sz="1200" b="1" dirty="0"/>
              <a:t> = 0.05. </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295400"/>
            <a:ext cx="5334159" cy="4419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C1DB1C9-9CD7-D318-4FDC-618D0518BC0F}"/>
              </a:ext>
            </a:extLst>
          </p:cNvPr>
          <p:cNvPicPr>
            <a:picLocks noChangeAspect="1"/>
          </p:cNvPicPr>
          <p:nvPr/>
        </p:nvPicPr>
        <p:blipFill>
          <a:blip r:embed="rId4"/>
          <a:stretch>
            <a:fillRect/>
          </a:stretch>
        </p:blipFill>
        <p:spPr>
          <a:xfrm>
            <a:off x="702837" y="1335861"/>
            <a:ext cx="5147366" cy="4338677"/>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3E327-F2D0-7C04-CCF7-34675702E241}"/>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3D98DA94-2405-3035-3A96-0602E5552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DDC4EAC-DB1E-7FAC-B35A-D11EDCD35562}"/>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C3EE4FD4-0AA5-6048-ED4A-7EBE7238C4C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6D3415EC-B01C-B1B9-8C8A-AE5FA36D5726}"/>
              </a:ext>
            </a:extLst>
          </p:cNvPr>
          <p:cNvSpPr/>
          <p:nvPr/>
        </p:nvSpPr>
        <p:spPr>
          <a:xfrm>
            <a:off x="142611" y="1387701"/>
            <a:ext cx="3886200" cy="336448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ángulo 16">
            <a:extLst>
              <a:ext uri="{FF2B5EF4-FFF2-40B4-BE49-F238E27FC236}">
                <a16:creationId xmlns:a16="http://schemas.microsoft.com/office/drawing/2014/main" id="{53AE47CA-19A7-1E5E-969C-5C33173D5712}"/>
              </a:ext>
            </a:extLst>
          </p:cNvPr>
          <p:cNvSpPr/>
          <p:nvPr/>
        </p:nvSpPr>
        <p:spPr>
          <a:xfrm>
            <a:off x="4163705" y="1401225"/>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4EE61454-68FF-C520-AFF9-B9D857183CCA}"/>
              </a:ext>
            </a:extLst>
          </p:cNvPr>
          <p:cNvSpPr/>
          <p:nvPr/>
        </p:nvSpPr>
        <p:spPr>
          <a:xfrm>
            <a:off x="8174863" y="1389766"/>
            <a:ext cx="3886200" cy="336686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a16:creationId xmlns:a16="http://schemas.microsoft.com/office/drawing/2014/main" id="{32B4E531-10A4-7242-850A-BF878F7474EC}"/>
              </a:ext>
            </a:extLst>
          </p:cNvPr>
          <p:cNvPicPr>
            <a:picLocks noChangeAspect="1"/>
          </p:cNvPicPr>
          <p:nvPr/>
        </p:nvPicPr>
        <p:blipFill>
          <a:blip r:embed="rId4"/>
          <a:stretch>
            <a:fillRect/>
          </a:stretch>
        </p:blipFill>
        <p:spPr>
          <a:xfrm>
            <a:off x="4194691" y="1420561"/>
            <a:ext cx="3827772" cy="3229683"/>
          </a:xfrm>
          <a:prstGeom prst="rect">
            <a:avLst/>
          </a:prstGeom>
        </p:spPr>
      </p:pic>
      <p:sp>
        <p:nvSpPr>
          <p:cNvPr id="21" name="CuadroTexto 20">
            <a:extLst>
              <a:ext uri="{FF2B5EF4-FFF2-40B4-BE49-F238E27FC236}">
                <a16:creationId xmlns:a16="http://schemas.microsoft.com/office/drawing/2014/main" id="{1F52E104-0038-C1BC-F5D9-345898539DA2}"/>
              </a:ext>
            </a:extLst>
          </p:cNvPr>
          <p:cNvSpPr txBox="1"/>
          <p:nvPr/>
        </p:nvSpPr>
        <p:spPr>
          <a:xfrm>
            <a:off x="4721054" y="994002"/>
            <a:ext cx="3106428" cy="369332"/>
          </a:xfrm>
          <a:prstGeom prst="rect">
            <a:avLst/>
          </a:prstGeom>
          <a:noFill/>
        </p:spPr>
        <p:txBody>
          <a:bodyPr wrap="square" rtlCol="0">
            <a:spAutoFit/>
          </a:bodyPr>
          <a:lstStyle/>
          <a:p>
            <a:r>
              <a:rPr lang="es-ES" b="1" dirty="0"/>
              <a:t>Para </a:t>
            </a:r>
            <a:r>
              <a:rPr lang="es-ES" b="1" dirty="0" err="1"/>
              <a:t>m.wg_width_dw</a:t>
            </a:r>
            <a:r>
              <a:rPr lang="es-ES" b="1" dirty="0"/>
              <a:t> = 0.9 </a:t>
            </a:r>
          </a:p>
        </p:txBody>
      </p:sp>
      <p:pic>
        <p:nvPicPr>
          <p:cNvPr id="23" name="Imagen 22">
            <a:extLst>
              <a:ext uri="{FF2B5EF4-FFF2-40B4-BE49-F238E27FC236}">
                <a16:creationId xmlns:a16="http://schemas.microsoft.com/office/drawing/2014/main" id="{8F8EAE99-99ED-FB72-1110-05CA9A020DE0}"/>
              </a:ext>
            </a:extLst>
          </p:cNvPr>
          <p:cNvPicPr>
            <a:picLocks noChangeAspect="1"/>
          </p:cNvPicPr>
          <p:nvPr/>
        </p:nvPicPr>
        <p:blipFill>
          <a:blip r:embed="rId5"/>
          <a:stretch>
            <a:fillRect/>
          </a:stretch>
        </p:blipFill>
        <p:spPr>
          <a:xfrm>
            <a:off x="8190812" y="1429967"/>
            <a:ext cx="3834044" cy="3220278"/>
          </a:xfrm>
          <a:prstGeom prst="rect">
            <a:avLst/>
          </a:prstGeom>
        </p:spPr>
      </p:pic>
      <p:sp>
        <p:nvSpPr>
          <p:cNvPr id="24" name="CuadroTexto 23">
            <a:extLst>
              <a:ext uri="{FF2B5EF4-FFF2-40B4-BE49-F238E27FC236}">
                <a16:creationId xmlns:a16="http://schemas.microsoft.com/office/drawing/2014/main" id="{9AD4F4C6-5223-42D8-5938-C3E70DB47C5B}"/>
              </a:ext>
            </a:extLst>
          </p:cNvPr>
          <p:cNvSpPr txBox="1"/>
          <p:nvPr/>
        </p:nvSpPr>
        <p:spPr>
          <a:xfrm>
            <a:off x="8706706" y="1018657"/>
            <a:ext cx="3106428" cy="369332"/>
          </a:xfrm>
          <a:prstGeom prst="rect">
            <a:avLst/>
          </a:prstGeom>
          <a:noFill/>
        </p:spPr>
        <p:txBody>
          <a:bodyPr wrap="square" rtlCol="0">
            <a:spAutoFit/>
          </a:bodyPr>
          <a:lstStyle/>
          <a:p>
            <a:r>
              <a:rPr lang="es-ES" b="1" dirty="0"/>
              <a:t>Para </a:t>
            </a:r>
            <a:r>
              <a:rPr lang="es-ES" b="1" dirty="0" err="1"/>
              <a:t>m.wg_width_dw</a:t>
            </a:r>
            <a:r>
              <a:rPr lang="es-ES" b="1" dirty="0"/>
              <a:t> = 2 </a:t>
            </a:r>
          </a:p>
        </p:txBody>
      </p:sp>
      <p:pic>
        <p:nvPicPr>
          <p:cNvPr id="26" name="Imagen 25">
            <a:extLst>
              <a:ext uri="{FF2B5EF4-FFF2-40B4-BE49-F238E27FC236}">
                <a16:creationId xmlns:a16="http://schemas.microsoft.com/office/drawing/2014/main" id="{8E14DA66-0D12-A3E4-BDBC-B4BFA5122582}"/>
              </a:ext>
            </a:extLst>
          </p:cNvPr>
          <p:cNvPicPr>
            <a:picLocks noChangeAspect="1"/>
          </p:cNvPicPr>
          <p:nvPr/>
        </p:nvPicPr>
        <p:blipFill>
          <a:blip r:embed="rId6"/>
          <a:stretch>
            <a:fillRect/>
          </a:stretch>
        </p:blipFill>
        <p:spPr>
          <a:xfrm>
            <a:off x="168547" y="1475631"/>
            <a:ext cx="3851404" cy="3212166"/>
          </a:xfrm>
          <a:prstGeom prst="rect">
            <a:avLst/>
          </a:prstGeom>
        </p:spPr>
      </p:pic>
      <p:sp>
        <p:nvSpPr>
          <p:cNvPr id="27" name="CuadroTexto 26">
            <a:extLst>
              <a:ext uri="{FF2B5EF4-FFF2-40B4-BE49-F238E27FC236}">
                <a16:creationId xmlns:a16="http://schemas.microsoft.com/office/drawing/2014/main" id="{E8F1BD72-9460-7FEC-3B2E-699C7C78A399}"/>
              </a:ext>
            </a:extLst>
          </p:cNvPr>
          <p:cNvSpPr txBox="1"/>
          <p:nvPr/>
        </p:nvSpPr>
        <p:spPr>
          <a:xfrm>
            <a:off x="561977" y="1008369"/>
            <a:ext cx="3106428" cy="369332"/>
          </a:xfrm>
          <a:prstGeom prst="rect">
            <a:avLst/>
          </a:prstGeom>
          <a:noFill/>
        </p:spPr>
        <p:txBody>
          <a:bodyPr wrap="square" rtlCol="0">
            <a:spAutoFit/>
          </a:bodyPr>
          <a:lstStyle/>
          <a:p>
            <a:r>
              <a:rPr lang="es-ES" b="1" dirty="0"/>
              <a:t>Para </a:t>
            </a:r>
            <a:r>
              <a:rPr lang="es-ES" b="1" dirty="0" err="1"/>
              <a:t>m.wg_width_dw</a:t>
            </a:r>
            <a:r>
              <a:rPr lang="es-ES" b="1" dirty="0"/>
              <a:t> = 0.5 </a:t>
            </a:r>
          </a:p>
        </p:txBody>
      </p:sp>
      <p:sp>
        <p:nvSpPr>
          <p:cNvPr id="28" name="Rectángulo 27">
            <a:extLst>
              <a:ext uri="{FF2B5EF4-FFF2-40B4-BE49-F238E27FC236}">
                <a16:creationId xmlns:a16="http://schemas.microsoft.com/office/drawing/2014/main" id="{0E330073-90DB-7F27-98DF-2B64101B2373}"/>
              </a:ext>
            </a:extLst>
          </p:cNvPr>
          <p:cNvSpPr/>
          <p:nvPr/>
        </p:nvSpPr>
        <p:spPr>
          <a:xfrm>
            <a:off x="142611" y="998369"/>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ángulo 28">
            <a:extLst>
              <a:ext uri="{FF2B5EF4-FFF2-40B4-BE49-F238E27FC236}">
                <a16:creationId xmlns:a16="http://schemas.microsoft.com/office/drawing/2014/main" id="{AE993F16-CAD8-77C1-415D-B0F9B72B2710}"/>
              </a:ext>
            </a:extLst>
          </p:cNvPr>
          <p:cNvSpPr/>
          <p:nvPr/>
        </p:nvSpPr>
        <p:spPr>
          <a:xfrm>
            <a:off x="8173091" y="998082"/>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ángulo 29">
            <a:extLst>
              <a:ext uri="{FF2B5EF4-FFF2-40B4-BE49-F238E27FC236}">
                <a16:creationId xmlns:a16="http://schemas.microsoft.com/office/drawing/2014/main" id="{E604800D-2984-B56E-E05B-ED6988F8D86B}"/>
              </a:ext>
            </a:extLst>
          </p:cNvPr>
          <p:cNvSpPr/>
          <p:nvPr/>
        </p:nvSpPr>
        <p:spPr>
          <a:xfrm>
            <a:off x="4163705" y="998083"/>
            <a:ext cx="3886200"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bject 16">
            <a:extLst>
              <a:ext uri="{FF2B5EF4-FFF2-40B4-BE49-F238E27FC236}">
                <a16:creationId xmlns:a16="http://schemas.microsoft.com/office/drawing/2014/main" id="{ABDEA272-1024-5186-3CEC-241A17668408}"/>
              </a:ext>
            </a:extLst>
          </p:cNvPr>
          <p:cNvSpPr txBox="1">
            <a:spLocks noGrp="1"/>
          </p:cNvSpPr>
          <p:nvPr>
            <p:ph type="title"/>
          </p:nvPr>
        </p:nvSpPr>
        <p:spPr>
          <a:xfrm>
            <a:off x="609600" y="19324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sp>
        <p:nvSpPr>
          <p:cNvPr id="33" name="CuadroTexto 32">
            <a:extLst>
              <a:ext uri="{FF2B5EF4-FFF2-40B4-BE49-F238E27FC236}">
                <a16:creationId xmlns:a16="http://schemas.microsoft.com/office/drawing/2014/main" id="{C74D4732-4859-2FA7-D6FB-7BAC98C405AF}"/>
              </a:ext>
            </a:extLst>
          </p:cNvPr>
          <p:cNvSpPr txBox="1"/>
          <p:nvPr/>
        </p:nvSpPr>
        <p:spPr>
          <a:xfrm>
            <a:off x="137660" y="4903455"/>
            <a:ext cx="11916680"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El objetivo de este estudio era obtener un reparto de potencia lo más cercano posible a 0.5 en las dos salidas, manteniendo unas pérdidas en exceso inferiores a 0.1 dB. Para ello, se ha variado el ancho de la guía y realizado varias simulaciones recalculando los modos en cada caso. A partir de estas simulaciones, se observa que al reducir el ancho de las guías el acoplo hacia el MMI empeora, aumentando las pérdidas en exceso, aunque el reparto de potencia se mantiene bastante equilibrado. Por el contrario, al incrementar el ancho, el acoplo mejora notablemente y las pérdidas disminuyen, pero aparece un ligero desequilibrio en la división de potencia debido a que las guías más anchas capturan una mayor porción del campo interno y son más sensibles a pequeños desajustes de fase. Tras comparar los distintos casos simulados, se concluye que un ancho de </a:t>
            </a:r>
            <a:r>
              <a:rPr lang="es-ES" sz="1200" b="1" dirty="0"/>
              <a:t>0.9 </a:t>
            </a:r>
            <a:r>
              <a:rPr lang="es-ES" sz="1200" dirty="0"/>
              <a:t>µm proporciona el mejor balance con respecto al objetivo planteado, ya que permite mantener las pérdidas por debajo del límite establecido sin afectar significativamente al 50/50 de las salidas</a:t>
            </a:r>
          </a:p>
        </p:txBody>
      </p:sp>
    </p:spTree>
    <p:extLst>
      <p:ext uri="{BB962C8B-B14F-4D97-AF65-F5344CB8AC3E}">
        <p14:creationId xmlns:p14="http://schemas.microsoft.com/office/powerpoint/2010/main" val="3672386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a:t>
            </a:r>
            <a:r>
              <a:rPr lang="en-US" i="1" dirty="0"/>
              <a:t>7.2</a:t>
            </a:r>
            <a:r>
              <a:rPr lang="en-US" b="0" dirty="0"/>
              <a:t>?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5160395" y="1352993"/>
            <a:ext cx="6650605" cy="452431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Para diseñar el acoplador MMI 1×4 hemos seguido el mismo procedimiento que en el 2×2 pero adaptándolo al hecho de que ahora deben formarse cuatro imágenes de salida en lugar de dos. </a:t>
            </a:r>
          </a:p>
          <a:p>
            <a:pPr algn="just"/>
            <a:endParaRPr lang="es-ES" sz="1200" dirty="0"/>
          </a:p>
          <a:p>
            <a:pPr marL="171450" indent="-171450" algn="just">
              <a:buFontTx/>
              <a:buChar char="-"/>
            </a:pPr>
            <a:r>
              <a:rPr lang="es-ES" sz="1200" dirty="0"/>
              <a:t>Primero seleccionamos un ancho del MMI suficientemente grande para alojar cuatro guías. Como el espaciado típico de las guías de ondas es de 1.2 </a:t>
            </a:r>
            <a:r>
              <a:rPr lang="es-ES" sz="1200" dirty="0" err="1"/>
              <a:t>um</a:t>
            </a:r>
            <a:r>
              <a:rPr lang="es-ES" sz="1200" dirty="0"/>
              <a:t> (ancho de la guía) + 0.6 </a:t>
            </a:r>
            <a:r>
              <a:rPr lang="es-ES" sz="1200" dirty="0" err="1"/>
              <a:t>um</a:t>
            </a:r>
            <a:r>
              <a:rPr lang="es-ES" sz="1200" dirty="0"/>
              <a:t> (brecha entre los centros) = 1.8 </a:t>
            </a:r>
            <a:r>
              <a:rPr lang="es-ES" sz="1200" dirty="0" err="1"/>
              <a:t>um</a:t>
            </a:r>
            <a:r>
              <a:rPr lang="es-ES" sz="1200" dirty="0"/>
              <a:t> por guía de ondas. Para 4 guías de ondas: al menos 4*1.8 = 7,2 </a:t>
            </a:r>
            <a:r>
              <a:rPr lang="es-ES" sz="1200" dirty="0" err="1"/>
              <a:t>um</a:t>
            </a:r>
            <a:r>
              <a:rPr lang="es-ES" sz="1200" dirty="0"/>
              <a:t> y fijamos precisamente </a:t>
            </a:r>
            <a:r>
              <a:rPr lang="es-ES" sz="1200" b="1" dirty="0" err="1"/>
              <a:t>MMI_width</a:t>
            </a:r>
            <a:r>
              <a:rPr lang="es-ES" sz="1200" b="1" dirty="0"/>
              <a:t> = 7.2 µm</a:t>
            </a:r>
            <a:r>
              <a:rPr lang="es-ES" sz="1200" dirty="0"/>
              <a:t> como punto de partida para asegurar que el dispositivo soporta suficientes modos pero sin hacerlo innecesariamente grande.</a:t>
            </a:r>
          </a:p>
          <a:p>
            <a:pPr algn="just"/>
            <a:endParaRPr lang="es-ES" sz="1200" dirty="0"/>
          </a:p>
          <a:p>
            <a:pPr marL="171450" indent="-171450" algn="just">
              <a:buFontTx/>
              <a:buChar char="-"/>
            </a:pPr>
            <a:r>
              <a:rPr lang="es-ES" sz="1200" dirty="0"/>
              <a:t>A continuación calculamos la longitud característica </a:t>
            </a:r>
            <a:r>
              <a:rPr lang="es-ES" sz="1200" b="1" dirty="0" err="1"/>
              <a:t>L_pi</a:t>
            </a:r>
            <a:r>
              <a:rPr lang="es-ES" sz="1200" b="1" dirty="0"/>
              <a:t> </a:t>
            </a:r>
            <a:r>
              <a:rPr lang="es-ES" sz="1200" dirty="0"/>
              <a:t>y utilizamos la relación teórica </a:t>
            </a:r>
            <a:r>
              <a:rPr lang="es-ES" sz="1200" b="1" dirty="0"/>
              <a:t>L = 3 * </a:t>
            </a:r>
            <a:r>
              <a:rPr lang="es-ES" sz="1200" b="1" dirty="0" err="1"/>
              <a:t>L_pi</a:t>
            </a:r>
            <a:r>
              <a:rPr lang="es-ES" sz="1200" b="1" dirty="0"/>
              <a:t> / 4 * N </a:t>
            </a:r>
            <a:r>
              <a:rPr lang="es-ES" sz="1200" dirty="0"/>
              <a:t>como estimación inicial de la longitud del MMI, sabiendo que esta solo es aproximada, por lo que introducimos un ajuste mediante el parámetro </a:t>
            </a:r>
            <a:r>
              <a:rPr lang="es-ES" sz="1200" b="1" dirty="0" err="1"/>
              <a:t>dL_MMI</a:t>
            </a:r>
            <a:r>
              <a:rPr lang="es-ES" sz="1200" b="1" dirty="0"/>
              <a:t> </a:t>
            </a:r>
            <a:r>
              <a:rPr lang="es-ES" sz="1200" dirty="0"/>
              <a:t>y realizamos un barrido hasta encontrar el valor </a:t>
            </a:r>
            <a:r>
              <a:rPr lang="es-ES" sz="1200" b="1" dirty="0" err="1"/>
              <a:t>dL</a:t>
            </a:r>
            <a:r>
              <a:rPr lang="es-ES" sz="1200" b="1" dirty="0"/>
              <a:t> = 0.1</a:t>
            </a:r>
            <a:r>
              <a:rPr lang="es-ES" sz="1200" dirty="0"/>
              <a:t>, que es donde se minimizan las pérdidas y se obtiene una distribución más uniforme.</a:t>
            </a:r>
          </a:p>
          <a:p>
            <a:pPr algn="just"/>
            <a:endParaRPr lang="es-ES" sz="1200" dirty="0"/>
          </a:p>
          <a:p>
            <a:pPr marL="171450" indent="-171450" algn="just">
              <a:buFontTx/>
              <a:buChar char="-"/>
            </a:pPr>
            <a:r>
              <a:rPr lang="es-ES" sz="1200" dirty="0"/>
              <a:t>Al mismo tiempo, optimizamos las posiciones de las guías de salida introduciendo un parámetro de ajuste </a:t>
            </a:r>
            <a:r>
              <a:rPr lang="es-ES" sz="1200" b="1" dirty="0" err="1"/>
              <a:t>dy</a:t>
            </a:r>
            <a:r>
              <a:rPr lang="es-ES" sz="1200" b="1" dirty="0"/>
              <a:t> = 0.1</a:t>
            </a:r>
            <a:r>
              <a:rPr lang="es-ES" sz="1200" dirty="0"/>
              <a:t>. Partiendo de las posiciones teóricas (W/8 y 3W/8), aplicamos este desplazamiento para separar ligeramente las guías exteriores, logrando así una mejor alineación con los máximos reales del campo de interferencia. </a:t>
            </a:r>
          </a:p>
          <a:p>
            <a:pPr algn="just"/>
            <a:endParaRPr lang="es-ES" sz="1200" dirty="0"/>
          </a:p>
          <a:p>
            <a:pPr marL="171450" indent="-171450" algn="just">
              <a:buFontTx/>
              <a:buChar char="-"/>
            </a:pPr>
            <a:r>
              <a:rPr lang="es-ES" sz="1200" dirty="0"/>
              <a:t>Finalmente, se definió el ancho de las guías de acceso mediante el parámetro </a:t>
            </a:r>
            <a:r>
              <a:rPr lang="es-ES" sz="1200" b="1" dirty="0" err="1"/>
              <a:t>wg_width_dw</a:t>
            </a:r>
            <a:r>
              <a:rPr lang="es-ES" sz="1200" b="1" dirty="0"/>
              <a:t> = 0.5 </a:t>
            </a:r>
            <a:r>
              <a:rPr lang="es-ES" sz="1200" dirty="0"/>
              <a:t>µm. Para esta elección, utilizar guías de entrada y salida ligeramente más anchas permite un mejor confinamiento de la luz al entrar y salir del cuerpo del MMI. Esto reduce las pérdidas por dispersión en las transiciones y asegura que el acoplamiento de los modos sea más eficiente, contribuyendo a mantener el exceso de pérdida en niveles mínimos.</a:t>
            </a: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52993"/>
            <a:ext cx="4435565" cy="453648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98E2C531-FF4A-6133-5F41-57C09FB71C4D}"/>
              </a:ext>
            </a:extLst>
          </p:cNvPr>
          <p:cNvPicPr>
            <a:picLocks noChangeAspect="1"/>
          </p:cNvPicPr>
          <p:nvPr/>
        </p:nvPicPr>
        <p:blipFill>
          <a:blip r:embed="rId4"/>
          <a:stretch>
            <a:fillRect/>
          </a:stretch>
        </p:blipFill>
        <p:spPr>
          <a:xfrm>
            <a:off x="685800" y="1392179"/>
            <a:ext cx="4267200" cy="4458745"/>
          </a:xfrm>
          <a:prstGeom prst="rect">
            <a:avLst/>
          </a:prstGeom>
        </p:spPr>
      </p:pic>
    </p:spTree>
    <p:extLst>
      <p:ext uri="{BB962C8B-B14F-4D97-AF65-F5344CB8AC3E}">
        <p14:creationId xmlns:p14="http://schemas.microsoft.com/office/powerpoint/2010/main" val="258614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598795" y="307341"/>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E7488849-10A1-FB48-F511-E57B062CD7E2}"/>
              </a:ext>
            </a:extLst>
          </p:cNvPr>
          <p:cNvSpPr/>
          <p:nvPr/>
        </p:nvSpPr>
        <p:spPr>
          <a:xfrm>
            <a:off x="380225" y="1988752"/>
            <a:ext cx="571835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205694" y="1981746"/>
            <a:ext cx="5563897"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271391" y="4883130"/>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19642" y="325004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19642" y="3250048"/>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23605" y="3250048"/>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23605" y="3250048"/>
                <a:ext cx="4546634" cy="923330"/>
              </a:xfrm>
              <a:prstGeom prst="rect">
                <a:avLst/>
              </a:prstGeom>
              <a:blipFill>
                <a:blip r:embed="rId5"/>
                <a:stretch>
                  <a:fillRect t="-3289" b="-9211"/>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1EF0404D-AC60-30C8-6F7C-D093A42BC130}"/>
              </a:ext>
            </a:extLst>
          </p:cNvPr>
          <p:cNvSpPr txBox="1"/>
          <p:nvPr/>
        </p:nvSpPr>
        <p:spPr>
          <a:xfrm>
            <a:off x="1531677" y="1610487"/>
            <a:ext cx="3410291" cy="369332"/>
          </a:xfrm>
          <a:prstGeom prst="rect">
            <a:avLst/>
          </a:prstGeom>
          <a:noFill/>
        </p:spPr>
        <p:txBody>
          <a:bodyPr wrap="square" rtlCol="0">
            <a:spAutoFit/>
          </a:bodyPr>
          <a:lstStyle/>
          <a:p>
            <a:pPr algn="ctr"/>
            <a:r>
              <a:rPr lang="es-ES" b="1" dirty="0"/>
              <a:t>Deep </a:t>
            </a:r>
            <a:r>
              <a:rPr lang="es-ES" b="1" dirty="0" err="1"/>
              <a:t>Waveguide</a:t>
            </a:r>
            <a:endParaRPr lang="es-ES" b="1" dirty="0"/>
          </a:p>
        </p:txBody>
      </p:sp>
      <p:sp>
        <p:nvSpPr>
          <p:cNvPr id="14" name="Rectángulo 13">
            <a:extLst>
              <a:ext uri="{FF2B5EF4-FFF2-40B4-BE49-F238E27FC236}">
                <a16:creationId xmlns:a16="http://schemas.microsoft.com/office/drawing/2014/main" id="{C4226348-64F5-603D-F8FA-90CCF8A30B33}"/>
              </a:ext>
            </a:extLst>
          </p:cNvPr>
          <p:cNvSpPr/>
          <p:nvPr/>
        </p:nvSpPr>
        <p:spPr>
          <a:xfrm>
            <a:off x="377647" y="1600200"/>
            <a:ext cx="5718353"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FA50B95C-FD0A-0ED7-7FA5-2322808C1056}"/>
              </a:ext>
            </a:extLst>
          </p:cNvPr>
          <p:cNvSpPr txBox="1"/>
          <p:nvPr/>
        </p:nvSpPr>
        <p:spPr>
          <a:xfrm>
            <a:off x="6622482" y="1600200"/>
            <a:ext cx="4882535" cy="369332"/>
          </a:xfrm>
          <a:prstGeom prst="rect">
            <a:avLst/>
          </a:prstGeom>
          <a:noFill/>
        </p:spPr>
        <p:txBody>
          <a:bodyPr wrap="square" rtlCol="0">
            <a:spAutoFit/>
          </a:bodyPr>
          <a:lstStyle/>
          <a:p>
            <a:pPr algn="ctr"/>
            <a:r>
              <a:rPr lang="es-ES" b="1" dirty="0" err="1"/>
              <a:t>Shallow</a:t>
            </a:r>
            <a:r>
              <a:rPr lang="es-ES" b="1" dirty="0"/>
              <a:t> </a:t>
            </a:r>
            <a:r>
              <a:rPr lang="es-ES" b="1" dirty="0" err="1"/>
              <a:t>Waveguide</a:t>
            </a:r>
            <a:endParaRPr lang="es-ES" b="1" dirty="0"/>
          </a:p>
        </p:txBody>
      </p:sp>
      <p:sp>
        <p:nvSpPr>
          <p:cNvPr id="17" name="Rectángulo 16">
            <a:extLst>
              <a:ext uri="{FF2B5EF4-FFF2-40B4-BE49-F238E27FC236}">
                <a16:creationId xmlns:a16="http://schemas.microsoft.com/office/drawing/2014/main" id="{194FC730-0044-A996-636E-ABDFCB0AFE70}"/>
              </a:ext>
            </a:extLst>
          </p:cNvPr>
          <p:cNvSpPr/>
          <p:nvPr/>
        </p:nvSpPr>
        <p:spPr>
          <a:xfrm>
            <a:off x="6203116" y="1590200"/>
            <a:ext cx="5563897"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2B456DF5-BE36-C88D-A671-01D97A9F2DD1}"/>
              </a:ext>
            </a:extLst>
          </p:cNvPr>
          <p:cNvPicPr>
            <a:picLocks noChangeAspect="1"/>
          </p:cNvPicPr>
          <p:nvPr/>
        </p:nvPicPr>
        <p:blipFill>
          <a:blip r:embed="rId6"/>
          <a:stretch>
            <a:fillRect/>
          </a:stretch>
        </p:blipFill>
        <p:spPr>
          <a:xfrm>
            <a:off x="639116" y="2054160"/>
            <a:ext cx="5220429" cy="3238952"/>
          </a:xfrm>
          <a:prstGeom prst="rect">
            <a:avLst/>
          </a:prstGeom>
        </p:spPr>
      </p:pic>
      <p:pic>
        <p:nvPicPr>
          <p:cNvPr id="12" name="Imagen 11">
            <a:extLst>
              <a:ext uri="{FF2B5EF4-FFF2-40B4-BE49-F238E27FC236}">
                <a16:creationId xmlns:a16="http://schemas.microsoft.com/office/drawing/2014/main" id="{77B71A08-2A2E-9393-C360-5A00ADD21660}"/>
              </a:ext>
            </a:extLst>
          </p:cNvPr>
          <p:cNvPicPr>
            <a:picLocks noChangeAspect="1"/>
          </p:cNvPicPr>
          <p:nvPr/>
        </p:nvPicPr>
        <p:blipFill>
          <a:blip r:embed="rId7"/>
          <a:stretch>
            <a:fillRect/>
          </a:stretch>
        </p:blipFill>
        <p:spPr>
          <a:xfrm>
            <a:off x="6503694" y="2020047"/>
            <a:ext cx="5001323" cy="3229426"/>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542E9-39BB-A3F0-5ABB-D49E19DA67E0}"/>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6FE056B2-26C3-B235-DCE2-1C1FFA1295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8F90A3E-B2A2-2A5B-B4EB-CCB9E34F6C78}"/>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C4E4EACA-277A-F4C4-8064-E60F81BFEF6A}"/>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35828B69-3826-C662-0575-067150DB3811}"/>
              </a:ext>
            </a:extLst>
          </p:cNvPr>
          <p:cNvSpPr txBox="1"/>
          <p:nvPr/>
        </p:nvSpPr>
        <p:spPr>
          <a:xfrm>
            <a:off x="681163" y="1600200"/>
            <a:ext cx="10596438" cy="249299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Si miramos los resultados, se ve que la longitud de acoplamiento </a:t>
            </a:r>
            <a:r>
              <a:rPr lang="es-ES" sz="1200" b="1" dirty="0" err="1"/>
              <a:t>L_pi</a:t>
            </a:r>
            <a:r>
              <a:rPr lang="es-ES" sz="1200" b="1" dirty="0"/>
              <a:t> </a:t>
            </a:r>
            <a:r>
              <a:rPr lang="es-ES" sz="1200" dirty="0"/>
              <a:t>crece casi de forma exponencial cuando aumentamos el gap entre las guías. Esto tiene bastante sentido físicamente, porque el acoplamiento depende de los campos evanescentes: cuando las guías están más separadas, el solapamiento entre los modos cae muy rápido, y por eso hace falta mucha más longitud para transferir la potencia de una guía a la otra.</a:t>
            </a:r>
          </a:p>
          <a:p>
            <a:pPr algn="just"/>
            <a:endParaRPr lang="es-ES" sz="1200" dirty="0"/>
          </a:p>
          <a:p>
            <a:pPr algn="just"/>
            <a:r>
              <a:rPr lang="es-ES" sz="1200" dirty="0"/>
              <a:t>Al comparar las dos configuraciones, hay una diferencia bastante clara. En las guías </a:t>
            </a:r>
            <a:r>
              <a:rPr lang="es-ES" sz="1200" b="1" dirty="0" err="1"/>
              <a:t>deep</a:t>
            </a:r>
            <a:r>
              <a:rPr lang="es-ES" sz="1200" dirty="0"/>
              <a:t>, el confinamiento lateral es mayor, entonces los campos quedan más encerrados y apenas interactúan. Eso hace que el acoplamiento sea más débil y, en consecuencia, que </a:t>
            </a:r>
            <a:r>
              <a:rPr lang="es-ES" sz="1200" b="1" dirty="0" err="1"/>
              <a:t>L_pi</a:t>
            </a:r>
            <a:r>
              <a:rPr lang="es-ES" sz="1200" b="1" dirty="0"/>
              <a:t> </a:t>
            </a:r>
            <a:r>
              <a:rPr lang="es-ES" sz="1200" dirty="0"/>
              <a:t>sea mucho más grande. En cambio, en las guías </a:t>
            </a:r>
            <a:r>
              <a:rPr lang="es-ES" sz="1200" b="1" dirty="0" err="1"/>
              <a:t>shallow</a:t>
            </a:r>
            <a:r>
              <a:rPr lang="es-ES" sz="1200" dirty="0"/>
              <a:t>, como queda una capa de material (el </a:t>
            </a:r>
            <a:r>
              <a:rPr lang="es-ES" sz="1200" dirty="0" err="1"/>
              <a:t>slab</a:t>
            </a:r>
            <a:r>
              <a:rPr lang="es-ES" sz="1200" dirty="0"/>
              <a:t>), los campos se extienden más y se acoplan mejor. Por eso los dispositivos son más compactos, con longitudes de acoplamiento bastante menores. </a:t>
            </a:r>
          </a:p>
          <a:p>
            <a:pPr algn="just"/>
            <a:endParaRPr lang="es-ES" sz="1200" dirty="0"/>
          </a:p>
          <a:p>
            <a:pPr algn="just"/>
            <a:r>
              <a:rPr lang="es-ES" sz="1200" dirty="0"/>
              <a:t>Comparando las polarizaciones en los dos tipos de estructuras: en la </a:t>
            </a:r>
            <a:r>
              <a:rPr lang="es-ES" sz="1200" b="1" dirty="0"/>
              <a:t>Deep </a:t>
            </a:r>
            <a:r>
              <a:rPr lang="es-ES" sz="1200" b="1" dirty="0" err="1"/>
              <a:t>Waveguide</a:t>
            </a:r>
            <a:r>
              <a:rPr lang="es-ES" sz="1200" dirty="0"/>
              <a:t>, las paredes laterales están totalmente definidas, lo que mantiene al modo TM (campo vertical) más confinado y menos sensible a la separación que el TE, resultando en una </a:t>
            </a:r>
            <a:r>
              <a:rPr lang="es-ES" sz="1200" b="1" dirty="0" err="1"/>
              <a:t>L_pi</a:t>
            </a:r>
            <a:r>
              <a:rPr lang="es-ES" sz="1200" b="1" dirty="0"/>
              <a:t> menor</a:t>
            </a:r>
            <a:r>
              <a:rPr lang="es-ES" sz="1200" dirty="0"/>
              <a:t>; por el contrario, en la </a:t>
            </a:r>
            <a:r>
              <a:rPr lang="es-ES" sz="1200" b="1" dirty="0"/>
              <a:t>Shallow </a:t>
            </a:r>
            <a:r>
              <a:rPr lang="es-ES" sz="1200" b="1" dirty="0" err="1"/>
              <a:t>Waveguide</a:t>
            </a:r>
            <a:r>
              <a:rPr lang="es-ES" sz="1200" dirty="0"/>
              <a:t>, la presencia del </a:t>
            </a:r>
            <a:r>
              <a:rPr lang="es-ES" sz="1200" dirty="0" err="1"/>
              <a:t>slab</a:t>
            </a:r>
            <a:r>
              <a:rPr lang="es-ES" sz="1200" dirty="0"/>
              <a:t> permite que el modo TM se expanda horizontalmente con mucha más facilidad que el TE, provocando que su interacción con la guía adyacente sea más débil a grandes distancias y, por consecuente, que su curva de longitud de acoplamiento se dispare por encima de la del modo TE.</a:t>
            </a:r>
          </a:p>
        </p:txBody>
      </p:sp>
      <p:sp>
        <p:nvSpPr>
          <p:cNvPr id="7" name="object 16">
            <a:extLst>
              <a:ext uri="{FF2B5EF4-FFF2-40B4-BE49-F238E27FC236}">
                <a16:creationId xmlns:a16="http://schemas.microsoft.com/office/drawing/2014/main" id="{8FDAC2AB-F1A4-E76D-029B-5397F4C4CD57}"/>
              </a:ext>
            </a:extLst>
          </p:cNvPr>
          <p:cNvSpPr txBox="1">
            <a:spLocks noGrp="1"/>
          </p:cNvSpPr>
          <p:nvPr>
            <p:ph type="title"/>
          </p:nvPr>
        </p:nvSpPr>
        <p:spPr>
          <a:xfrm>
            <a:off x="598795" y="307341"/>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spTree>
    <p:extLst>
      <p:ext uri="{BB962C8B-B14F-4D97-AF65-F5344CB8AC3E}">
        <p14:creationId xmlns:p14="http://schemas.microsoft.com/office/powerpoint/2010/main" val="3798689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7872-816F-965A-4BAF-63DE9DED3252}"/>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0D1D988E-A9C4-E5A8-1265-6338FAA39B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6780978-5B53-13A8-D2F1-FECAD5D924BA}"/>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A67388C8-D8F1-BEDF-8889-04684F39F91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89B09465-87E0-D43A-E50C-C54632B60CF0}"/>
              </a:ext>
            </a:extLst>
          </p:cNvPr>
          <p:cNvSpPr/>
          <p:nvPr/>
        </p:nvSpPr>
        <p:spPr>
          <a:xfrm>
            <a:off x="380225" y="1988752"/>
            <a:ext cx="571835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0B8372D-23B7-5F00-8A41-CBDD60DE8D4B}"/>
              </a:ext>
            </a:extLst>
          </p:cNvPr>
          <p:cNvSpPr/>
          <p:nvPr/>
        </p:nvSpPr>
        <p:spPr>
          <a:xfrm>
            <a:off x="6205694" y="1981746"/>
            <a:ext cx="5563897"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9E961CB-EAA1-8497-956E-346D9E56BA4D}"/>
              </a:ext>
            </a:extLst>
          </p:cNvPr>
          <p:cNvSpPr txBox="1"/>
          <p:nvPr/>
        </p:nvSpPr>
        <p:spPr>
          <a:xfrm>
            <a:off x="6271391" y="4883130"/>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FE9EF51-49D4-F2DF-9A01-DB5DA0BF2DAE}"/>
                  </a:ext>
                </a:extLst>
              </p:cNvPr>
              <p:cNvSpPr txBox="1"/>
              <p:nvPr/>
            </p:nvSpPr>
            <p:spPr>
              <a:xfrm>
                <a:off x="1019642" y="325004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BFE9EF51-49D4-F2DF-9A01-DB5DA0BF2DAE}"/>
                  </a:ext>
                </a:extLst>
              </p:cNvPr>
              <p:cNvSpPr txBox="1">
                <a:spLocks noRot="1" noChangeAspect="1" noMove="1" noResize="1" noEditPoints="1" noAdjustHandles="1" noChangeArrowheads="1" noChangeShapeType="1" noTextEdit="1"/>
              </p:cNvSpPr>
              <p:nvPr/>
            </p:nvSpPr>
            <p:spPr>
              <a:xfrm>
                <a:off x="1019642" y="3250048"/>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1EA1C57-6C45-84F4-013A-E069EFAFBA43}"/>
                  </a:ext>
                </a:extLst>
              </p:cNvPr>
              <p:cNvSpPr txBox="1"/>
              <p:nvPr/>
            </p:nvSpPr>
            <p:spPr>
              <a:xfrm>
                <a:off x="6823605" y="3250048"/>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91EA1C57-6C45-84F4-013A-E069EFAFBA43}"/>
                  </a:ext>
                </a:extLst>
              </p:cNvPr>
              <p:cNvSpPr txBox="1">
                <a:spLocks noRot="1" noChangeAspect="1" noMove="1" noResize="1" noEditPoints="1" noAdjustHandles="1" noChangeArrowheads="1" noChangeShapeType="1" noTextEdit="1"/>
              </p:cNvSpPr>
              <p:nvPr/>
            </p:nvSpPr>
            <p:spPr>
              <a:xfrm>
                <a:off x="6823605" y="3250048"/>
                <a:ext cx="4546634" cy="923330"/>
              </a:xfrm>
              <a:prstGeom prst="rect">
                <a:avLst/>
              </a:prstGeom>
              <a:blipFill>
                <a:blip r:embed="rId5"/>
                <a:stretch>
                  <a:fillRect t="-3289" b="-9211"/>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AC75E689-2D62-16F2-BAC5-38AE3106A78A}"/>
              </a:ext>
            </a:extLst>
          </p:cNvPr>
          <p:cNvSpPr txBox="1"/>
          <p:nvPr/>
        </p:nvSpPr>
        <p:spPr>
          <a:xfrm>
            <a:off x="1531677" y="1610487"/>
            <a:ext cx="3410291" cy="369332"/>
          </a:xfrm>
          <a:prstGeom prst="rect">
            <a:avLst/>
          </a:prstGeom>
          <a:noFill/>
        </p:spPr>
        <p:txBody>
          <a:bodyPr wrap="square" rtlCol="0">
            <a:spAutoFit/>
          </a:bodyPr>
          <a:lstStyle/>
          <a:p>
            <a:pPr algn="ctr"/>
            <a:r>
              <a:rPr lang="es-ES" b="1" dirty="0"/>
              <a:t>Deep </a:t>
            </a:r>
            <a:r>
              <a:rPr lang="es-ES" b="1" dirty="0" err="1"/>
              <a:t>Waveguide</a:t>
            </a:r>
            <a:endParaRPr lang="es-ES" b="1" dirty="0"/>
          </a:p>
        </p:txBody>
      </p:sp>
      <p:sp>
        <p:nvSpPr>
          <p:cNvPr id="14" name="Rectángulo 13">
            <a:extLst>
              <a:ext uri="{FF2B5EF4-FFF2-40B4-BE49-F238E27FC236}">
                <a16:creationId xmlns:a16="http://schemas.microsoft.com/office/drawing/2014/main" id="{C98F7D48-0FD0-AF76-6796-DE8353056DAF}"/>
              </a:ext>
            </a:extLst>
          </p:cNvPr>
          <p:cNvSpPr/>
          <p:nvPr/>
        </p:nvSpPr>
        <p:spPr>
          <a:xfrm>
            <a:off x="377647" y="1600200"/>
            <a:ext cx="5718353"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E1951FCC-3FC9-B638-9313-89A1F9BF26EC}"/>
              </a:ext>
            </a:extLst>
          </p:cNvPr>
          <p:cNvSpPr txBox="1"/>
          <p:nvPr/>
        </p:nvSpPr>
        <p:spPr>
          <a:xfrm>
            <a:off x="6428743" y="1610487"/>
            <a:ext cx="2534110" cy="369332"/>
          </a:xfrm>
          <a:prstGeom prst="rect">
            <a:avLst/>
          </a:prstGeom>
          <a:noFill/>
        </p:spPr>
        <p:txBody>
          <a:bodyPr wrap="square" rtlCol="0">
            <a:spAutoFit/>
          </a:bodyPr>
          <a:lstStyle/>
          <a:p>
            <a:pPr algn="ctr"/>
            <a:r>
              <a:rPr lang="es-ES" b="1" dirty="0" err="1"/>
              <a:t>Shallow</a:t>
            </a:r>
            <a:r>
              <a:rPr lang="es-ES" b="1" dirty="0"/>
              <a:t> </a:t>
            </a:r>
            <a:r>
              <a:rPr lang="es-ES" b="1" dirty="0" err="1"/>
              <a:t>Waveguide</a:t>
            </a:r>
            <a:endParaRPr lang="es-ES" b="1" dirty="0"/>
          </a:p>
        </p:txBody>
      </p:sp>
      <p:sp>
        <p:nvSpPr>
          <p:cNvPr id="17" name="Rectángulo 16">
            <a:extLst>
              <a:ext uri="{FF2B5EF4-FFF2-40B4-BE49-F238E27FC236}">
                <a16:creationId xmlns:a16="http://schemas.microsoft.com/office/drawing/2014/main" id="{9A2EEBF1-A0A9-8F00-225A-2047AAB1EDBC}"/>
              </a:ext>
            </a:extLst>
          </p:cNvPr>
          <p:cNvSpPr/>
          <p:nvPr/>
        </p:nvSpPr>
        <p:spPr>
          <a:xfrm>
            <a:off x="6203116" y="1590200"/>
            <a:ext cx="5563897"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bject 16">
            <a:extLst>
              <a:ext uri="{FF2B5EF4-FFF2-40B4-BE49-F238E27FC236}">
                <a16:creationId xmlns:a16="http://schemas.microsoft.com/office/drawing/2014/main" id="{735DE9CA-E0F3-2C49-974C-9C2BF5B1BE15}"/>
              </a:ext>
            </a:extLst>
          </p:cNvPr>
          <p:cNvSpPr txBox="1">
            <a:spLocks/>
          </p:cNvSpPr>
          <p:nvPr/>
        </p:nvSpPr>
        <p:spPr>
          <a:xfrm>
            <a:off x="685800" y="408883"/>
            <a:ext cx="10994410" cy="1474763"/>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Extra #2 – Directional wavelength dependence</a:t>
            </a:r>
            <a:br>
              <a:rPr lang="en-US" sz="2500" kern="0" dirty="0"/>
            </a:br>
            <a:r>
              <a:rPr lang="en-US" b="0" kern="0" dirty="0"/>
              <a:t>Wavelengths </a:t>
            </a:r>
            <a:r>
              <a:rPr lang="en-US" kern="0" dirty="0"/>
              <a:t>from 1.5 to 1.7 µm</a:t>
            </a:r>
            <a:r>
              <a:rPr lang="en-US" b="0" kern="0" dirty="0"/>
              <a:t>, gap = 0.6 µm, width 1.0 µm</a:t>
            </a:r>
            <a:br>
              <a:rPr lang="en-US" b="0" kern="0" dirty="0"/>
            </a:br>
            <a:br>
              <a:rPr lang="en-US" sz="2500" kern="0" spc="-5" dirty="0">
                <a:latin typeface="+mj-lt"/>
                <a:cs typeface="Lucida Sans"/>
              </a:rPr>
            </a:br>
            <a:endParaRPr lang="en-US" sz="2500" b="0" kern="0" dirty="0">
              <a:latin typeface="+mj-lt"/>
              <a:cs typeface="Lucida Sans"/>
            </a:endParaRPr>
          </a:p>
        </p:txBody>
      </p:sp>
      <p:pic>
        <p:nvPicPr>
          <p:cNvPr id="10" name="Imagen 9">
            <a:extLst>
              <a:ext uri="{FF2B5EF4-FFF2-40B4-BE49-F238E27FC236}">
                <a16:creationId xmlns:a16="http://schemas.microsoft.com/office/drawing/2014/main" id="{06AE6440-8BBD-0340-6AC9-73685E3089EE}"/>
              </a:ext>
            </a:extLst>
          </p:cNvPr>
          <p:cNvPicPr>
            <a:picLocks noChangeAspect="1"/>
          </p:cNvPicPr>
          <p:nvPr/>
        </p:nvPicPr>
        <p:blipFill>
          <a:blip r:embed="rId6"/>
          <a:stretch>
            <a:fillRect/>
          </a:stretch>
        </p:blipFill>
        <p:spPr>
          <a:xfrm>
            <a:off x="523798" y="2047427"/>
            <a:ext cx="5544324" cy="3210373"/>
          </a:xfrm>
          <a:prstGeom prst="rect">
            <a:avLst/>
          </a:prstGeom>
        </p:spPr>
      </p:pic>
      <p:pic>
        <p:nvPicPr>
          <p:cNvPr id="18" name="Imagen 17">
            <a:extLst>
              <a:ext uri="{FF2B5EF4-FFF2-40B4-BE49-F238E27FC236}">
                <a16:creationId xmlns:a16="http://schemas.microsoft.com/office/drawing/2014/main" id="{F11A239C-04AF-8093-56D9-9C41322597A3}"/>
              </a:ext>
            </a:extLst>
          </p:cNvPr>
          <p:cNvPicPr>
            <a:picLocks noChangeAspect="1"/>
          </p:cNvPicPr>
          <p:nvPr/>
        </p:nvPicPr>
        <p:blipFill>
          <a:blip r:embed="rId7"/>
          <a:stretch>
            <a:fillRect/>
          </a:stretch>
        </p:blipFill>
        <p:spPr>
          <a:xfrm>
            <a:off x="6389139" y="2063192"/>
            <a:ext cx="5191850" cy="3219899"/>
          </a:xfrm>
          <a:prstGeom prst="rect">
            <a:avLst/>
          </a:prstGeom>
        </p:spPr>
      </p:pic>
      <p:pic>
        <p:nvPicPr>
          <p:cNvPr id="20" name="Imagen 19">
            <a:extLst>
              <a:ext uri="{FF2B5EF4-FFF2-40B4-BE49-F238E27FC236}">
                <a16:creationId xmlns:a16="http://schemas.microsoft.com/office/drawing/2014/main" id="{CFEB6936-288D-65B4-7ABB-77696F6F1D0B}"/>
              </a:ext>
            </a:extLst>
          </p:cNvPr>
          <p:cNvPicPr>
            <a:picLocks noChangeAspect="1"/>
          </p:cNvPicPr>
          <p:nvPr/>
        </p:nvPicPr>
        <p:blipFill>
          <a:blip r:embed="rId8"/>
          <a:stretch>
            <a:fillRect/>
          </a:stretch>
        </p:blipFill>
        <p:spPr>
          <a:xfrm>
            <a:off x="9010193" y="201929"/>
            <a:ext cx="2804160" cy="1739094"/>
          </a:xfrm>
          <a:prstGeom prst="rect">
            <a:avLst/>
          </a:prstGeom>
        </p:spPr>
      </p:pic>
    </p:spTree>
    <p:extLst>
      <p:ext uri="{BB962C8B-B14F-4D97-AF65-F5344CB8AC3E}">
        <p14:creationId xmlns:p14="http://schemas.microsoft.com/office/powerpoint/2010/main" val="2050740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D66E6-0071-40B4-D2F4-EFEA327E9590}"/>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F3F0BEBF-E596-2F22-879A-501EC3936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CC66172-333D-1533-8080-0DB06560077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A3FC0B1B-86FD-8F5C-20C8-40B30920D7F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015A0022-8B93-BDA9-0FC7-32C5E5912B4B}"/>
              </a:ext>
            </a:extLst>
          </p:cNvPr>
          <p:cNvSpPr txBox="1"/>
          <p:nvPr/>
        </p:nvSpPr>
        <p:spPr>
          <a:xfrm>
            <a:off x="681163" y="1600200"/>
            <a:ext cx="10367837"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este caso, lo que vemos es cómo cambia la longitud de acoplamiento </a:t>
            </a:r>
            <a:r>
              <a:rPr lang="es-ES" sz="1200" b="1" dirty="0" err="1"/>
              <a:t>L_pi</a:t>
            </a:r>
            <a:r>
              <a:rPr lang="es-ES" sz="1200" b="1" dirty="0"/>
              <a:t> </a:t>
            </a:r>
            <a:r>
              <a:rPr lang="es-ES" sz="1200" dirty="0"/>
              <a:t>con la longitud de onda. En general, </a:t>
            </a:r>
            <a:r>
              <a:rPr lang="es-ES" sz="1200" b="1" dirty="0" err="1"/>
              <a:t>L_pi</a:t>
            </a:r>
            <a:r>
              <a:rPr lang="es-ES" sz="1200" b="1" dirty="0"/>
              <a:t> </a:t>
            </a:r>
            <a:r>
              <a:rPr lang="es-ES" sz="1200" dirty="0"/>
              <a:t>va disminuyendo a medida que aumenta </a:t>
            </a:r>
            <a:r>
              <a:rPr lang="es-ES" sz="1200" b="1" dirty="0"/>
              <a:t>lambda</a:t>
            </a:r>
            <a:r>
              <a:rPr lang="es-ES" sz="1200" dirty="0"/>
              <a:t>. Esto tiene sentido porque, al aumentar la longitud de onda, el modo se desconfina un poco más, se expande, y su campo evanescente penetra más en la guía vecina. Como hay más solapamiento entre los modos, el acoplamiento es más fuerte y hace falta menos longitud para transferir la potencia.</a:t>
            </a:r>
          </a:p>
          <a:p>
            <a:pPr algn="just"/>
            <a:endParaRPr lang="es-ES" sz="1200" b="1" dirty="0"/>
          </a:p>
          <a:p>
            <a:pPr algn="just"/>
            <a:r>
              <a:rPr lang="es-ES" sz="1200" dirty="0"/>
              <a:t>Comparando las polarizaciones según la longitud de onda en las gráficas de arriba, la conclusión es que la luz se vuelve más difícil de contener a medida que su longitud de onda aumenta. En la </a:t>
            </a:r>
            <a:r>
              <a:rPr lang="es-ES" sz="1200" b="1" dirty="0"/>
              <a:t>Deep </a:t>
            </a:r>
            <a:r>
              <a:rPr lang="es-ES" sz="1200" b="1" dirty="0" err="1"/>
              <a:t>Waveguide</a:t>
            </a:r>
            <a:r>
              <a:rPr lang="es-ES" sz="1200" dirty="0"/>
              <a:t>, como el corte llega hasta el fondo, ambas polarizaciones están bien encerradas y al aumentar la longitud de onda, la luz simplemente tiende a ocupar más espacio y se pasa más rápido a la guía de al lado, por eso la distancia necesaria para acoplarse </a:t>
            </a:r>
            <a:r>
              <a:rPr lang="es-ES" sz="1200" b="1" dirty="0" err="1"/>
              <a:t>L_pi</a:t>
            </a:r>
            <a:r>
              <a:rPr lang="es-ES" sz="1200" b="1" dirty="0"/>
              <a:t> </a:t>
            </a:r>
            <a:r>
              <a:rPr lang="es-ES" sz="1200" dirty="0"/>
              <a:t>baja de forma suave y predecible. En cambio, en la </a:t>
            </a:r>
            <a:r>
              <a:rPr lang="es-ES" sz="1200" b="1" dirty="0"/>
              <a:t>Shallow </a:t>
            </a:r>
            <a:r>
              <a:rPr lang="es-ES" sz="1200" b="1" dirty="0" err="1"/>
              <a:t>Waveguide</a:t>
            </a:r>
            <a:r>
              <a:rPr lang="es-ES" sz="1200" dirty="0"/>
              <a:t>, el modo TM como tiene el </a:t>
            </a:r>
            <a:r>
              <a:rPr lang="es-ES" sz="1200" dirty="0" err="1"/>
              <a:t>slab</a:t>
            </a:r>
            <a:r>
              <a:rPr lang="es-ES" sz="1200" dirty="0"/>
              <a:t>, es extremadamente sensible a los cambios. Al principio, a longitudes de onda cortas, le cuesta muchísimo saltar porque está muy disperso (por eso la curva roja empieza altísima), pero a medida que la longitud de onda crece, esa dispersión acopla mejor con la otra guía y la </a:t>
            </a:r>
            <a:r>
              <a:rPr lang="es-ES" sz="1200" b="1" dirty="0" err="1"/>
              <a:t>L_pi</a:t>
            </a:r>
            <a:r>
              <a:rPr lang="es-ES" sz="1200" b="1" dirty="0"/>
              <a:t> </a:t>
            </a:r>
            <a:r>
              <a:rPr lang="es-ES" sz="1200" dirty="0"/>
              <a:t>cae en picado, hasta que se estabiliza porque el diseño superficial de la guía ya no da para más.</a:t>
            </a:r>
          </a:p>
        </p:txBody>
      </p:sp>
      <p:sp>
        <p:nvSpPr>
          <p:cNvPr id="4" name="object 16">
            <a:extLst>
              <a:ext uri="{FF2B5EF4-FFF2-40B4-BE49-F238E27FC236}">
                <a16:creationId xmlns:a16="http://schemas.microsoft.com/office/drawing/2014/main" id="{8BD0F334-0ABF-DD15-DFE2-1248E4500EFD}"/>
              </a:ext>
            </a:extLst>
          </p:cNvPr>
          <p:cNvSpPr txBox="1">
            <a:spLocks/>
          </p:cNvSpPr>
          <p:nvPr/>
        </p:nvSpPr>
        <p:spPr>
          <a:xfrm>
            <a:off x="685800" y="408883"/>
            <a:ext cx="10994410" cy="1474763"/>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Extra #2 – Directional wavelength dependence</a:t>
            </a:r>
            <a:br>
              <a:rPr lang="en-US" sz="2500" kern="0" dirty="0"/>
            </a:br>
            <a:r>
              <a:rPr lang="en-US" b="0" kern="0" dirty="0"/>
              <a:t>Wavelengths </a:t>
            </a:r>
            <a:r>
              <a:rPr lang="en-US" kern="0" dirty="0"/>
              <a:t>from 1.5 to 1.7 µm</a:t>
            </a:r>
            <a:r>
              <a:rPr lang="en-US" b="0" kern="0" dirty="0"/>
              <a:t>, gap = 0.6 µm, width 1.0 µm</a:t>
            </a:r>
            <a:br>
              <a:rPr lang="en-US" b="0" kern="0" dirty="0"/>
            </a:br>
            <a:br>
              <a:rPr lang="en-US" sz="2500" kern="0" spc="-5" dirty="0">
                <a:latin typeface="+mj-lt"/>
                <a:cs typeface="Lucida Sans"/>
              </a:rPr>
            </a:br>
            <a:endParaRPr lang="en-US" sz="2500" b="0" kern="0" dirty="0">
              <a:latin typeface="+mj-lt"/>
              <a:cs typeface="Lucida Sans"/>
            </a:endParaRPr>
          </a:p>
        </p:txBody>
      </p:sp>
    </p:spTree>
    <p:extLst>
      <p:ext uri="{BB962C8B-B14F-4D97-AF65-F5344CB8AC3E}">
        <p14:creationId xmlns:p14="http://schemas.microsoft.com/office/powerpoint/2010/main" val="441429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E548D-0067-3F64-30FB-8EDD431943C8}"/>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59B1634A-9A9F-A4DD-8479-101073610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62AEEC-5E74-0F7B-F09C-B2B640B9D8DE}"/>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EA7E541B-29DA-B951-B4FA-CAE8A0C86095}"/>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E7904F0F-0FDB-F1FD-8662-1970AEDB2638}"/>
              </a:ext>
            </a:extLst>
          </p:cNvPr>
          <p:cNvSpPr/>
          <p:nvPr/>
        </p:nvSpPr>
        <p:spPr>
          <a:xfrm>
            <a:off x="380225" y="1988752"/>
            <a:ext cx="571835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B7BDDFC-5FBD-2D43-7F94-FEA83765CEF7}"/>
              </a:ext>
            </a:extLst>
          </p:cNvPr>
          <p:cNvSpPr/>
          <p:nvPr/>
        </p:nvSpPr>
        <p:spPr>
          <a:xfrm>
            <a:off x="6205694" y="1981746"/>
            <a:ext cx="5563897"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EF079412-CD0E-ADBC-23CA-CAE5A1BAEAC8}"/>
              </a:ext>
            </a:extLst>
          </p:cNvPr>
          <p:cNvSpPr txBox="1"/>
          <p:nvPr/>
        </p:nvSpPr>
        <p:spPr>
          <a:xfrm>
            <a:off x="6271391" y="4883130"/>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EF9C0FE-6FE1-BFCC-B85C-714561AFE471}"/>
                  </a:ext>
                </a:extLst>
              </p:cNvPr>
              <p:cNvSpPr txBox="1"/>
              <p:nvPr/>
            </p:nvSpPr>
            <p:spPr>
              <a:xfrm>
                <a:off x="1019642" y="325004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2EF9C0FE-6FE1-BFCC-B85C-714561AFE471}"/>
                  </a:ext>
                </a:extLst>
              </p:cNvPr>
              <p:cNvSpPr txBox="1">
                <a:spLocks noRot="1" noChangeAspect="1" noMove="1" noResize="1" noEditPoints="1" noAdjustHandles="1" noChangeArrowheads="1" noChangeShapeType="1" noTextEdit="1"/>
              </p:cNvSpPr>
              <p:nvPr/>
            </p:nvSpPr>
            <p:spPr>
              <a:xfrm>
                <a:off x="1019642" y="3250048"/>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194E86FA-FE48-9765-89A7-213B6387E605}"/>
                  </a:ext>
                </a:extLst>
              </p:cNvPr>
              <p:cNvSpPr txBox="1"/>
              <p:nvPr/>
            </p:nvSpPr>
            <p:spPr>
              <a:xfrm>
                <a:off x="6823605" y="3250048"/>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194E86FA-FE48-9765-89A7-213B6387E605}"/>
                  </a:ext>
                </a:extLst>
              </p:cNvPr>
              <p:cNvSpPr txBox="1">
                <a:spLocks noRot="1" noChangeAspect="1" noMove="1" noResize="1" noEditPoints="1" noAdjustHandles="1" noChangeArrowheads="1" noChangeShapeType="1" noTextEdit="1"/>
              </p:cNvSpPr>
              <p:nvPr/>
            </p:nvSpPr>
            <p:spPr>
              <a:xfrm>
                <a:off x="6823605" y="3250048"/>
                <a:ext cx="4546634" cy="923330"/>
              </a:xfrm>
              <a:prstGeom prst="rect">
                <a:avLst/>
              </a:prstGeom>
              <a:blipFill>
                <a:blip r:embed="rId5"/>
                <a:stretch>
                  <a:fillRect t="-3289" b="-9211"/>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99635648-A739-C871-8C63-38CB3F7A3BD7}"/>
              </a:ext>
            </a:extLst>
          </p:cNvPr>
          <p:cNvSpPr txBox="1"/>
          <p:nvPr/>
        </p:nvSpPr>
        <p:spPr>
          <a:xfrm>
            <a:off x="1531677" y="1610487"/>
            <a:ext cx="3410291" cy="369332"/>
          </a:xfrm>
          <a:prstGeom prst="rect">
            <a:avLst/>
          </a:prstGeom>
          <a:noFill/>
        </p:spPr>
        <p:txBody>
          <a:bodyPr wrap="square" rtlCol="0">
            <a:spAutoFit/>
          </a:bodyPr>
          <a:lstStyle/>
          <a:p>
            <a:pPr algn="ctr"/>
            <a:r>
              <a:rPr lang="es-ES" b="1" dirty="0"/>
              <a:t>Deep </a:t>
            </a:r>
            <a:r>
              <a:rPr lang="es-ES" b="1" dirty="0" err="1"/>
              <a:t>Waveguide</a:t>
            </a:r>
            <a:endParaRPr lang="es-ES" b="1" dirty="0"/>
          </a:p>
        </p:txBody>
      </p:sp>
      <p:sp>
        <p:nvSpPr>
          <p:cNvPr id="14" name="Rectángulo 13">
            <a:extLst>
              <a:ext uri="{FF2B5EF4-FFF2-40B4-BE49-F238E27FC236}">
                <a16:creationId xmlns:a16="http://schemas.microsoft.com/office/drawing/2014/main" id="{C3133A92-1546-CEF7-AD62-853A883BAB43}"/>
              </a:ext>
            </a:extLst>
          </p:cNvPr>
          <p:cNvSpPr/>
          <p:nvPr/>
        </p:nvSpPr>
        <p:spPr>
          <a:xfrm>
            <a:off x="377647" y="1600200"/>
            <a:ext cx="5718353"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70AE9C4-7196-E316-0A29-6A8C4E04358E}"/>
              </a:ext>
            </a:extLst>
          </p:cNvPr>
          <p:cNvSpPr txBox="1"/>
          <p:nvPr/>
        </p:nvSpPr>
        <p:spPr>
          <a:xfrm>
            <a:off x="6622482" y="1600200"/>
            <a:ext cx="4882535" cy="369332"/>
          </a:xfrm>
          <a:prstGeom prst="rect">
            <a:avLst/>
          </a:prstGeom>
          <a:noFill/>
        </p:spPr>
        <p:txBody>
          <a:bodyPr wrap="square" rtlCol="0">
            <a:spAutoFit/>
          </a:bodyPr>
          <a:lstStyle/>
          <a:p>
            <a:pPr algn="ctr"/>
            <a:r>
              <a:rPr lang="es-ES" b="1" dirty="0" err="1"/>
              <a:t>Shallow</a:t>
            </a:r>
            <a:r>
              <a:rPr lang="es-ES" b="1" dirty="0"/>
              <a:t> </a:t>
            </a:r>
            <a:r>
              <a:rPr lang="es-ES" b="1" dirty="0" err="1"/>
              <a:t>Waveguide</a:t>
            </a:r>
            <a:endParaRPr lang="es-ES" b="1" dirty="0"/>
          </a:p>
        </p:txBody>
      </p:sp>
      <p:sp>
        <p:nvSpPr>
          <p:cNvPr id="17" name="Rectángulo 16">
            <a:extLst>
              <a:ext uri="{FF2B5EF4-FFF2-40B4-BE49-F238E27FC236}">
                <a16:creationId xmlns:a16="http://schemas.microsoft.com/office/drawing/2014/main" id="{7D596F77-6244-46A1-85ED-493A81814F63}"/>
              </a:ext>
            </a:extLst>
          </p:cNvPr>
          <p:cNvSpPr/>
          <p:nvPr/>
        </p:nvSpPr>
        <p:spPr>
          <a:xfrm>
            <a:off x="6203116" y="1590200"/>
            <a:ext cx="5563897"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6">
            <a:extLst>
              <a:ext uri="{FF2B5EF4-FFF2-40B4-BE49-F238E27FC236}">
                <a16:creationId xmlns:a16="http://schemas.microsoft.com/office/drawing/2014/main" id="{FDD29458-AAF5-45CB-7C8E-5D5057D21487}"/>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18" name="Imagen 17">
            <a:extLst>
              <a:ext uri="{FF2B5EF4-FFF2-40B4-BE49-F238E27FC236}">
                <a16:creationId xmlns:a16="http://schemas.microsoft.com/office/drawing/2014/main" id="{ADBDD2CA-FBF6-4BBF-3C1F-DBFCC680B9B6}"/>
              </a:ext>
            </a:extLst>
          </p:cNvPr>
          <p:cNvPicPr>
            <a:picLocks noChangeAspect="1"/>
          </p:cNvPicPr>
          <p:nvPr/>
        </p:nvPicPr>
        <p:blipFill>
          <a:blip r:embed="rId6"/>
          <a:stretch>
            <a:fillRect/>
          </a:stretch>
        </p:blipFill>
        <p:spPr>
          <a:xfrm>
            <a:off x="522144" y="2015684"/>
            <a:ext cx="5220429" cy="3229426"/>
          </a:xfrm>
          <a:prstGeom prst="rect">
            <a:avLst/>
          </a:prstGeom>
        </p:spPr>
      </p:pic>
      <p:pic>
        <p:nvPicPr>
          <p:cNvPr id="22" name="Imagen 21">
            <a:extLst>
              <a:ext uri="{FF2B5EF4-FFF2-40B4-BE49-F238E27FC236}">
                <a16:creationId xmlns:a16="http://schemas.microsoft.com/office/drawing/2014/main" id="{29B455C5-3F28-4C33-6336-91C99A62DA36}"/>
              </a:ext>
            </a:extLst>
          </p:cNvPr>
          <p:cNvPicPr>
            <a:picLocks noChangeAspect="1"/>
          </p:cNvPicPr>
          <p:nvPr/>
        </p:nvPicPr>
        <p:blipFill>
          <a:blip r:embed="rId7"/>
          <a:stretch>
            <a:fillRect/>
          </a:stretch>
        </p:blipFill>
        <p:spPr>
          <a:xfrm>
            <a:off x="6379613" y="2015684"/>
            <a:ext cx="5210902" cy="3229426"/>
          </a:xfrm>
          <a:prstGeom prst="rect">
            <a:avLst/>
          </a:prstGeom>
        </p:spPr>
      </p:pic>
    </p:spTree>
    <p:extLst>
      <p:ext uri="{BB962C8B-B14F-4D97-AF65-F5344CB8AC3E}">
        <p14:creationId xmlns:p14="http://schemas.microsoft.com/office/powerpoint/2010/main" val="965434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B5E49-92E7-216F-A94F-259F3AEEE07B}"/>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2AC3CC16-11C6-A975-6586-6B2AC9DDB0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EF65EE3-9F60-D398-C6C6-6E885D9C4F4F}"/>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E3FA8A84-BC5F-C68E-6595-6965E554D5C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59CF14D2-24AA-57D0-19E9-42217C325B3E}"/>
              </a:ext>
            </a:extLst>
          </p:cNvPr>
          <p:cNvSpPr txBox="1"/>
          <p:nvPr/>
        </p:nvSpPr>
        <p:spPr>
          <a:xfrm>
            <a:off x="681163" y="1600200"/>
            <a:ext cx="10367837" cy="341632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este caso, al analizar un acoplador de interferencia multimodo (MMI), la física del dispositivo cambia respecto al acoplador direccional anterior, aunque la tendencia de la gráfica sea similar. Aquí, </a:t>
            </a:r>
            <a:r>
              <a:rPr lang="es-ES" sz="1200" b="1" dirty="0" err="1"/>
              <a:t>L_pi</a:t>
            </a:r>
            <a:r>
              <a:rPr lang="es-ES" sz="1200" b="1" dirty="0"/>
              <a:t> </a:t>
            </a:r>
            <a:r>
              <a:rPr lang="es-ES" sz="1200" dirty="0"/>
              <a:t>representa la distancia característica necesaria para que los múltiples modos que viajan por la sección ancha (6.6 µm) interfieran constructivamente y formen imágenes de la entrada. La simulación muestra que la longitud de acoplamiento del MMI disminuye linealmente conforme aumenta la longitud de onda, lo cual se explica porque en un MMI </a:t>
            </a:r>
            <a:r>
              <a:rPr lang="es-ES" sz="1200" b="1" dirty="0" err="1"/>
              <a:t>L_pi</a:t>
            </a:r>
            <a:r>
              <a:rPr lang="es-ES" sz="1200" b="1" dirty="0"/>
              <a:t> </a:t>
            </a:r>
            <a:r>
              <a:rPr lang="es-ES" sz="1200" dirty="0"/>
              <a:t>es inversamente proporcional a </a:t>
            </a:r>
            <a:r>
              <a:rPr lang="es-ES" sz="1200" b="1" dirty="0"/>
              <a:t>lambda.</a:t>
            </a:r>
            <a:r>
              <a:rPr lang="es-ES" sz="1200" dirty="0"/>
              <a:t> Esto significa qué a longitudes de onda más largas, el patrón de interferencia se comprime, resultando en un dispositivo más corto. </a:t>
            </a:r>
          </a:p>
          <a:p>
            <a:pPr algn="just"/>
            <a:endParaRPr lang="es-ES" sz="1200" dirty="0"/>
          </a:p>
          <a:p>
            <a:pPr algn="just"/>
            <a:r>
              <a:rPr lang="es-ES" sz="1200" dirty="0"/>
              <a:t>Al comparar las estructuras, se observa que la </a:t>
            </a:r>
            <a:r>
              <a:rPr lang="es-ES" sz="1200" b="1" dirty="0"/>
              <a:t>Shallow </a:t>
            </a:r>
            <a:r>
              <a:rPr lang="es-ES" sz="1200" b="1" dirty="0" err="1"/>
              <a:t>Waveguide</a:t>
            </a:r>
            <a:r>
              <a:rPr lang="es-ES" sz="1200" b="1" dirty="0"/>
              <a:t> </a:t>
            </a:r>
            <a:r>
              <a:rPr lang="es-ES" sz="1200" dirty="0"/>
              <a:t>presenta valores de </a:t>
            </a:r>
            <a:r>
              <a:rPr lang="es-ES" sz="1200" b="1" dirty="0" err="1"/>
              <a:t>L_pi</a:t>
            </a:r>
            <a:r>
              <a:rPr lang="es-ES" sz="1200" b="1" dirty="0"/>
              <a:t> </a:t>
            </a:r>
            <a:r>
              <a:rPr lang="es-ES" sz="1200" dirty="0"/>
              <a:t>ligeramente más altos (cerca de 72-76 µm) que la </a:t>
            </a:r>
            <a:r>
              <a:rPr lang="es-ES" sz="1200" b="1" dirty="0"/>
              <a:t>Deep </a:t>
            </a:r>
            <a:r>
              <a:rPr lang="es-ES" sz="1200" b="1" dirty="0" err="1"/>
              <a:t>Waveguide</a:t>
            </a:r>
            <a:r>
              <a:rPr lang="es-ES" sz="1200" b="1" dirty="0"/>
              <a:t> </a:t>
            </a:r>
            <a:r>
              <a:rPr lang="es-ES" sz="1200" dirty="0"/>
              <a:t>(67-71 µm), debido a que el </a:t>
            </a:r>
            <a:r>
              <a:rPr lang="es-ES" sz="1200" dirty="0" err="1"/>
              <a:t>slab</a:t>
            </a:r>
            <a:r>
              <a:rPr lang="es-ES" sz="1200" dirty="0"/>
              <a:t> aumenta el ancho efectivo de la guía, obligando a la luz a recorrer una mayor distancia para completar el ciclo de interferencia. En conclusión, para ambas geometrías, el MMI muestra una respuesta espectral muy suave, confirmando que el diseño de la longitud total del dispositivo debe ajustarse estrictamente a la longitud de onda que se quiere utilizar para garantizar que los puertos de salida reciban la máxima potencia.</a:t>
            </a:r>
          </a:p>
          <a:p>
            <a:pPr algn="just"/>
            <a:endParaRPr lang="es-ES" sz="1200" dirty="0"/>
          </a:p>
          <a:p>
            <a:pPr algn="just"/>
            <a:r>
              <a:rPr lang="es-ES" sz="1200" dirty="0"/>
              <a:t>Si comparamos estos resultados con los del acoplador direccional, la longitud de acoplamiento depende mucho del gap entre guías. En cambio, en el MMI los valores de </a:t>
            </a:r>
            <a:r>
              <a:rPr lang="es-ES" sz="1200" b="1" dirty="0" err="1"/>
              <a:t>L_pi</a:t>
            </a:r>
            <a:r>
              <a:rPr lang="es-ES" sz="1200" b="1" dirty="0"/>
              <a:t> </a:t>
            </a:r>
            <a:r>
              <a:rPr lang="es-ES" sz="1200" dirty="0"/>
              <a:t>se mantienen en un rango mucho más estrecho: entre 67–71 </a:t>
            </a:r>
            <a:r>
              <a:rPr lang="el-GR" sz="1200" dirty="0"/>
              <a:t>μ</a:t>
            </a:r>
            <a:r>
              <a:rPr lang="es-ES" sz="1200" dirty="0"/>
              <a:t>m para la guía </a:t>
            </a:r>
            <a:r>
              <a:rPr lang="es-ES" sz="1200" b="1" dirty="0"/>
              <a:t>Deep</a:t>
            </a:r>
            <a:r>
              <a:rPr lang="es-ES" sz="1200" dirty="0"/>
              <a:t> y 72–76 </a:t>
            </a:r>
            <a:r>
              <a:rPr lang="el-GR" sz="1200" dirty="0"/>
              <a:t>μ</a:t>
            </a:r>
            <a:r>
              <a:rPr lang="es-ES" sz="1200" dirty="0"/>
              <a:t>m para la </a:t>
            </a:r>
            <a:r>
              <a:rPr lang="es-ES" sz="1200" b="1" dirty="0"/>
              <a:t>Shallow</a:t>
            </a:r>
            <a:r>
              <a:rPr lang="es-ES" sz="1200" dirty="0"/>
              <a:t>. Esto se debe a que el MMI no depende de acoplamiento evanescente entre dos guías, sino de la interferencia de múltiples modos dentro de una región ancha. </a:t>
            </a:r>
          </a:p>
          <a:p>
            <a:pPr algn="just"/>
            <a:endParaRPr lang="es-ES" sz="1200" dirty="0"/>
          </a:p>
          <a:p>
            <a:pPr algn="just"/>
            <a:r>
              <a:rPr lang="es-ES" sz="1200" dirty="0"/>
              <a:t>En resumen, aunque en ambos dispositivos la longitud de acoplamiento disminuye al aumentar la longitud de onda, el MMI presenta un comportamiento más estable y predecible. Por ello, resulta una opción más robusta frente a imperfecciones de fabricación, especialmente en el diseño de circuitos fotónicos más complejos.</a:t>
            </a:r>
          </a:p>
        </p:txBody>
      </p:sp>
      <p:sp>
        <p:nvSpPr>
          <p:cNvPr id="5" name="object 16">
            <a:extLst>
              <a:ext uri="{FF2B5EF4-FFF2-40B4-BE49-F238E27FC236}">
                <a16:creationId xmlns:a16="http://schemas.microsoft.com/office/drawing/2014/main" id="{677AB418-D84C-6723-A836-1ED8E6F629BB}"/>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spTree>
    <p:extLst>
      <p:ext uri="{BB962C8B-B14F-4D97-AF65-F5344CB8AC3E}">
        <p14:creationId xmlns:p14="http://schemas.microsoft.com/office/powerpoint/2010/main" val="3298977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6A814-D016-1D4B-58FE-47AD63855D93}"/>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845EB7A5-3388-D7D7-61C0-C95F156B94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EC1A1AE-5E1C-032D-F3E4-C25B31C092F4}"/>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6802771C-9C85-885F-A1B1-2AD297FF0C15}"/>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B56F42C6-C0B3-F19A-7031-539829A47604}"/>
              </a:ext>
            </a:extLst>
          </p:cNvPr>
          <p:cNvSpPr/>
          <p:nvPr/>
        </p:nvSpPr>
        <p:spPr>
          <a:xfrm>
            <a:off x="380225" y="1988752"/>
            <a:ext cx="571835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F6B4378E-654C-A081-D6E7-713E21CBE46C}"/>
              </a:ext>
            </a:extLst>
          </p:cNvPr>
          <p:cNvSpPr/>
          <p:nvPr/>
        </p:nvSpPr>
        <p:spPr>
          <a:xfrm>
            <a:off x="6205694" y="1981746"/>
            <a:ext cx="5563897"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F87F594B-E5D7-F1AB-4AD5-7DF2B2FE3B16}"/>
              </a:ext>
            </a:extLst>
          </p:cNvPr>
          <p:cNvSpPr txBox="1"/>
          <p:nvPr/>
        </p:nvSpPr>
        <p:spPr>
          <a:xfrm>
            <a:off x="6271391" y="4883130"/>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CCD9B42-E8C3-1564-EDAA-ECBCDD685419}"/>
                  </a:ext>
                </a:extLst>
              </p:cNvPr>
              <p:cNvSpPr txBox="1"/>
              <p:nvPr/>
            </p:nvSpPr>
            <p:spPr>
              <a:xfrm>
                <a:off x="1019642" y="325004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6CCD9B42-E8C3-1564-EDAA-ECBCDD685419}"/>
                  </a:ext>
                </a:extLst>
              </p:cNvPr>
              <p:cNvSpPr txBox="1">
                <a:spLocks noRot="1" noChangeAspect="1" noMove="1" noResize="1" noEditPoints="1" noAdjustHandles="1" noChangeArrowheads="1" noChangeShapeType="1" noTextEdit="1"/>
              </p:cNvSpPr>
              <p:nvPr/>
            </p:nvSpPr>
            <p:spPr>
              <a:xfrm>
                <a:off x="1019642" y="3250048"/>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02F38E4-31F9-0C1B-CF6A-92F82784AA68}"/>
                  </a:ext>
                </a:extLst>
              </p:cNvPr>
              <p:cNvSpPr txBox="1"/>
              <p:nvPr/>
            </p:nvSpPr>
            <p:spPr>
              <a:xfrm>
                <a:off x="6823605" y="3250048"/>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E02F38E4-31F9-0C1B-CF6A-92F82784AA68}"/>
                  </a:ext>
                </a:extLst>
              </p:cNvPr>
              <p:cNvSpPr txBox="1">
                <a:spLocks noRot="1" noChangeAspect="1" noMove="1" noResize="1" noEditPoints="1" noAdjustHandles="1" noChangeArrowheads="1" noChangeShapeType="1" noTextEdit="1"/>
              </p:cNvSpPr>
              <p:nvPr/>
            </p:nvSpPr>
            <p:spPr>
              <a:xfrm>
                <a:off x="6823605" y="3250048"/>
                <a:ext cx="4546634" cy="923330"/>
              </a:xfrm>
              <a:prstGeom prst="rect">
                <a:avLst/>
              </a:prstGeom>
              <a:blipFill>
                <a:blip r:embed="rId5"/>
                <a:stretch>
                  <a:fillRect t="-3289" b="-9211"/>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7AB62A74-4CD9-CB12-1A1C-B286D68679DF}"/>
              </a:ext>
            </a:extLst>
          </p:cNvPr>
          <p:cNvSpPr txBox="1"/>
          <p:nvPr/>
        </p:nvSpPr>
        <p:spPr>
          <a:xfrm>
            <a:off x="1531677" y="1610487"/>
            <a:ext cx="3410291" cy="369332"/>
          </a:xfrm>
          <a:prstGeom prst="rect">
            <a:avLst/>
          </a:prstGeom>
          <a:noFill/>
        </p:spPr>
        <p:txBody>
          <a:bodyPr wrap="square" rtlCol="0">
            <a:spAutoFit/>
          </a:bodyPr>
          <a:lstStyle/>
          <a:p>
            <a:pPr algn="ctr"/>
            <a:r>
              <a:rPr lang="es-ES" b="1" dirty="0"/>
              <a:t>Deep </a:t>
            </a:r>
            <a:r>
              <a:rPr lang="es-ES" b="1" dirty="0" err="1"/>
              <a:t>Waveguide</a:t>
            </a:r>
            <a:endParaRPr lang="es-ES" b="1" dirty="0"/>
          </a:p>
        </p:txBody>
      </p:sp>
      <p:sp>
        <p:nvSpPr>
          <p:cNvPr id="14" name="Rectángulo 13">
            <a:extLst>
              <a:ext uri="{FF2B5EF4-FFF2-40B4-BE49-F238E27FC236}">
                <a16:creationId xmlns:a16="http://schemas.microsoft.com/office/drawing/2014/main" id="{70821DA5-A6DD-5A84-A074-263E069CB49D}"/>
              </a:ext>
            </a:extLst>
          </p:cNvPr>
          <p:cNvSpPr/>
          <p:nvPr/>
        </p:nvSpPr>
        <p:spPr>
          <a:xfrm>
            <a:off x="377647" y="1600200"/>
            <a:ext cx="5718353"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14F2AC9-A053-10FA-5032-20435D46726C}"/>
              </a:ext>
            </a:extLst>
          </p:cNvPr>
          <p:cNvSpPr txBox="1"/>
          <p:nvPr/>
        </p:nvSpPr>
        <p:spPr>
          <a:xfrm>
            <a:off x="6622482" y="1600200"/>
            <a:ext cx="4882535" cy="369332"/>
          </a:xfrm>
          <a:prstGeom prst="rect">
            <a:avLst/>
          </a:prstGeom>
          <a:noFill/>
        </p:spPr>
        <p:txBody>
          <a:bodyPr wrap="square" rtlCol="0">
            <a:spAutoFit/>
          </a:bodyPr>
          <a:lstStyle/>
          <a:p>
            <a:pPr algn="ctr"/>
            <a:r>
              <a:rPr lang="es-ES" b="1" dirty="0" err="1"/>
              <a:t>Shallow</a:t>
            </a:r>
            <a:r>
              <a:rPr lang="es-ES" b="1" dirty="0"/>
              <a:t> </a:t>
            </a:r>
            <a:r>
              <a:rPr lang="es-ES" b="1" dirty="0" err="1"/>
              <a:t>Waveguide</a:t>
            </a:r>
            <a:endParaRPr lang="es-ES" b="1" dirty="0"/>
          </a:p>
        </p:txBody>
      </p:sp>
      <p:sp>
        <p:nvSpPr>
          <p:cNvPr id="17" name="Rectángulo 16">
            <a:extLst>
              <a:ext uri="{FF2B5EF4-FFF2-40B4-BE49-F238E27FC236}">
                <a16:creationId xmlns:a16="http://schemas.microsoft.com/office/drawing/2014/main" id="{BF069FCE-B405-0F12-8A77-FB856F8DE368}"/>
              </a:ext>
            </a:extLst>
          </p:cNvPr>
          <p:cNvSpPr/>
          <p:nvPr/>
        </p:nvSpPr>
        <p:spPr>
          <a:xfrm>
            <a:off x="6203116" y="1590200"/>
            <a:ext cx="5563897" cy="38990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bject 16">
            <a:extLst>
              <a:ext uri="{FF2B5EF4-FFF2-40B4-BE49-F238E27FC236}">
                <a16:creationId xmlns:a16="http://schemas.microsoft.com/office/drawing/2014/main" id="{3ADE8C9A-B455-0483-7266-E2A5F33D81D5}"/>
              </a:ext>
            </a:extLst>
          </p:cNvPr>
          <p:cNvSpPr txBox="1">
            <a:spLocks/>
          </p:cNvSpPr>
          <p:nvPr/>
        </p:nvSpPr>
        <p:spPr>
          <a:xfrm>
            <a:off x="685800" y="408883"/>
            <a:ext cx="10994410" cy="705321"/>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Extra #4 – MMI coupler body width dependence</a:t>
            </a:r>
            <a:br>
              <a:rPr lang="en-US" sz="2500" kern="0" spc="-5" dirty="0">
                <a:latin typeface="+mj-lt"/>
                <a:cs typeface="Lucida Sans"/>
              </a:rPr>
            </a:br>
            <a:r>
              <a:rPr lang="en-US" b="0" kern="0" dirty="0"/>
              <a:t>Wavelength 1.55 µm, </a:t>
            </a:r>
            <a:r>
              <a:rPr lang="en-US" b="0" kern="0" dirty="0" err="1"/>
              <a:t>wMMI</a:t>
            </a:r>
            <a:r>
              <a:rPr lang="en-US" b="0" kern="0" dirty="0"/>
              <a:t> = 5-10 µm (steps 0.5 µm)</a:t>
            </a:r>
            <a:endParaRPr lang="en-US" sz="2500" b="0" kern="0" dirty="0">
              <a:latin typeface="+mj-lt"/>
              <a:cs typeface="Lucida Sans"/>
            </a:endParaRPr>
          </a:p>
        </p:txBody>
      </p:sp>
      <p:pic>
        <p:nvPicPr>
          <p:cNvPr id="4" name="Imagen 3">
            <a:extLst>
              <a:ext uri="{FF2B5EF4-FFF2-40B4-BE49-F238E27FC236}">
                <a16:creationId xmlns:a16="http://schemas.microsoft.com/office/drawing/2014/main" id="{E3F53555-5D5F-31E0-A391-427EC7857EEA}"/>
              </a:ext>
            </a:extLst>
          </p:cNvPr>
          <p:cNvPicPr>
            <a:picLocks noChangeAspect="1"/>
          </p:cNvPicPr>
          <p:nvPr/>
        </p:nvPicPr>
        <p:blipFill>
          <a:blip r:embed="rId6"/>
          <a:stretch>
            <a:fillRect/>
          </a:stretch>
        </p:blipFill>
        <p:spPr>
          <a:xfrm>
            <a:off x="685800" y="2042482"/>
            <a:ext cx="5182323" cy="3219899"/>
          </a:xfrm>
          <a:prstGeom prst="rect">
            <a:avLst/>
          </a:prstGeom>
        </p:spPr>
      </p:pic>
      <p:pic>
        <p:nvPicPr>
          <p:cNvPr id="12" name="Imagen 11">
            <a:extLst>
              <a:ext uri="{FF2B5EF4-FFF2-40B4-BE49-F238E27FC236}">
                <a16:creationId xmlns:a16="http://schemas.microsoft.com/office/drawing/2014/main" id="{AA1A52A7-75EA-FAAA-FA20-F2FEBE9016AF}"/>
              </a:ext>
            </a:extLst>
          </p:cNvPr>
          <p:cNvPicPr>
            <a:picLocks noChangeAspect="1"/>
          </p:cNvPicPr>
          <p:nvPr/>
        </p:nvPicPr>
        <p:blipFill>
          <a:blip r:embed="rId7"/>
          <a:stretch>
            <a:fillRect/>
          </a:stretch>
        </p:blipFill>
        <p:spPr>
          <a:xfrm>
            <a:off x="6404153" y="2036093"/>
            <a:ext cx="5201376" cy="3210373"/>
          </a:xfrm>
          <a:prstGeom prst="rect">
            <a:avLst/>
          </a:prstGeom>
        </p:spPr>
      </p:pic>
    </p:spTree>
    <p:extLst>
      <p:ext uri="{BB962C8B-B14F-4D97-AF65-F5344CB8AC3E}">
        <p14:creationId xmlns:p14="http://schemas.microsoft.com/office/powerpoint/2010/main" val="955235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F036-9B0A-66EA-D648-653D6C127B73}"/>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0860D694-252F-4AE1-92F2-3D0684418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F6284AD-9E73-2567-A108-A642E2B35F6E}"/>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BB348405-6D47-F6A3-E0E5-1F9B4B1D8A6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5AEA1A16-D252-D9A4-D51F-7692FE3FF674}"/>
              </a:ext>
            </a:extLst>
          </p:cNvPr>
          <p:cNvSpPr txBox="1"/>
          <p:nvPr/>
        </p:nvSpPr>
        <p:spPr>
          <a:xfrm>
            <a:off x="681163" y="1600200"/>
            <a:ext cx="10367837" cy="378565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este caso se analiza cómo varía la longitud de acoplamiento </a:t>
            </a:r>
            <a:r>
              <a:rPr lang="es-ES" sz="1200" b="1" dirty="0" err="1"/>
              <a:t>L_pi</a:t>
            </a:r>
            <a:r>
              <a:rPr lang="es-ES" sz="1200" b="1" dirty="0"/>
              <a:t> </a:t>
            </a:r>
            <a:r>
              <a:rPr lang="es-ES" sz="1200" dirty="0"/>
              <a:t>en función del ancho del cuerpo del MMI (</a:t>
            </a:r>
            <a:r>
              <a:rPr lang="es-ES" sz="1200" b="1" dirty="0"/>
              <a:t>W_MMI</a:t>
            </a:r>
            <a:r>
              <a:rPr lang="es-ES" sz="1200" dirty="0"/>
              <a:t>).</a:t>
            </a:r>
            <a:r>
              <a:rPr lang="ar-AE" sz="1200" dirty="0"/>
              <a:t> </a:t>
            </a:r>
            <a:r>
              <a:rPr lang="es-ES" sz="1200" dirty="0"/>
              <a:t>A partir de las gráficas se observa una dependencia claramente no lineal. Al incrementar el ancho del MMI, la estructura es capaz de soportar un mayor número de modos, y además las diferencias de fase entre ellos disminuyen. Como consecuencia, se necesita una mayor distancia de propagación para que los modos vuelvan a interferir constructivamente y se forme la </a:t>
            </a:r>
            <a:r>
              <a:rPr lang="es-ES" sz="1200" dirty="0" err="1"/>
              <a:t>auto-imagen</a:t>
            </a:r>
            <a:r>
              <a:rPr lang="es-ES" sz="1200" dirty="0"/>
              <a:t>, lo que provoca el aumento de </a:t>
            </a:r>
            <a:r>
              <a:rPr lang="es-ES" sz="1200" b="1" dirty="0" err="1"/>
              <a:t>L_pi</a:t>
            </a:r>
            <a:r>
              <a:rPr lang="ar-AE" sz="1200" b="1" dirty="0"/>
              <a:t>.</a:t>
            </a:r>
            <a:endParaRPr lang="es-ES" sz="1200" b="1" dirty="0"/>
          </a:p>
          <a:p>
            <a:pPr algn="just"/>
            <a:endParaRPr lang="ar-AE" sz="1200" b="1" dirty="0"/>
          </a:p>
          <a:p>
            <a:pPr algn="just"/>
            <a:r>
              <a:rPr lang="es-ES" sz="1200" dirty="0"/>
              <a:t>Al comparar con el acoplador direccional, la diferencia más importante reside en el como funcionan. En el acoplador direccional, el acoplamiento depende del campo evanescente entre dos guías y está controlado principalmente por el gap, siguiendo una dependencia exponencial muy sensible a pequeñas variaciones geométricas. En cambio, el MMI se basa en la interferencia de múltiples modos dentro de una región ancha, y el parámetro de diseño dominante es el ancho. Esto hace que su comportamiento sea mucho más progresivo, predecible y menos crítico frente a errores de fabricación.</a:t>
            </a:r>
          </a:p>
          <a:p>
            <a:pPr algn="just"/>
            <a:endParaRPr lang="es-ES" sz="1200" dirty="0"/>
          </a:p>
          <a:p>
            <a:pPr algn="just"/>
            <a:r>
              <a:rPr lang="es-ES" sz="1200" dirty="0"/>
              <a:t>Además, las gráficas muestran que la </a:t>
            </a:r>
            <a:r>
              <a:rPr lang="es-ES" sz="1200" b="1" dirty="0" err="1"/>
              <a:t>Shallow</a:t>
            </a:r>
            <a:r>
              <a:rPr lang="es-ES" sz="1200" b="1" dirty="0"/>
              <a:t> </a:t>
            </a:r>
            <a:r>
              <a:rPr lang="es-ES" sz="1200" b="1" dirty="0" err="1"/>
              <a:t>Waveguide</a:t>
            </a:r>
            <a:r>
              <a:rPr lang="es-ES" sz="1200" dirty="0"/>
              <a:t> requiere longitudes ligeramente mayores que la </a:t>
            </a:r>
            <a:r>
              <a:rPr lang="es-ES" sz="1200" b="1" dirty="0"/>
              <a:t>Deep </a:t>
            </a:r>
            <a:r>
              <a:rPr lang="es-ES" sz="1200" b="1" dirty="0" err="1"/>
              <a:t>Waveguide</a:t>
            </a:r>
            <a:r>
              <a:rPr lang="es-ES" sz="1200" dirty="0"/>
              <a:t> para un mismo ancho. Esto se debe a que la presencia del </a:t>
            </a:r>
            <a:r>
              <a:rPr lang="es-ES" sz="1200" dirty="0" err="1"/>
              <a:t>slab</a:t>
            </a:r>
            <a:r>
              <a:rPr lang="es-ES" sz="1200" dirty="0"/>
              <a:t> en la estructura </a:t>
            </a:r>
            <a:r>
              <a:rPr lang="es-ES" sz="1200" dirty="0" err="1"/>
              <a:t>shallow</a:t>
            </a:r>
            <a:r>
              <a:rPr lang="es-ES" sz="1200" dirty="0"/>
              <a:t> incrementa el ancho efectivo de los modos, desplazando la posición donde ocurre la </a:t>
            </a:r>
            <a:r>
              <a:rPr lang="es-ES" sz="1200" dirty="0" err="1"/>
              <a:t>auto-imagen</a:t>
            </a:r>
            <a:r>
              <a:rPr lang="es-ES" sz="1200" dirty="0"/>
              <a:t> hacia distancias mayores.</a:t>
            </a:r>
          </a:p>
          <a:p>
            <a:pPr algn="just"/>
            <a:endParaRPr lang="es-ES" sz="1200" dirty="0"/>
          </a:p>
          <a:p>
            <a:pPr algn="just"/>
            <a:r>
              <a:rPr lang="es-ES" sz="1200" b="1" dirty="0"/>
              <a:t>¿Es posible diseñar un acoplador independiente de la polarización?</a:t>
            </a:r>
            <a:endParaRPr lang="es-ES" sz="1200" dirty="0"/>
          </a:p>
          <a:p>
            <a:pPr algn="just"/>
            <a:r>
              <a:rPr lang="es-ES" sz="1200" dirty="0"/>
              <a:t>Sí, es posible, aunque no es sencillo. Las polarizaciones TE y TM presentan distintos índices efectivos y anchos efectivos, lo que hace que sus condiciones de interferencia no coincidan de forma natural. Sin embargo, mediante un ajuste cuidadoso de parámetros como el ancho del MMI y el espesor del núcleo o del </a:t>
            </a:r>
            <a:r>
              <a:rPr lang="es-ES" sz="1200" dirty="0" err="1"/>
              <a:t>slab</a:t>
            </a:r>
            <a:r>
              <a:rPr lang="es-ES" sz="1200" dirty="0"/>
              <a:t>, se puede encontrar un punto de operación en el que ambas polarizaciones tengan prácticamente la misma longitud de acoplamiento (</a:t>
            </a:r>
            <a:r>
              <a:rPr lang="es-ES" sz="1200" b="1" dirty="0" err="1"/>
              <a:t>L_pi_TE</a:t>
            </a:r>
            <a:r>
              <a:rPr lang="es-ES" sz="1200" b="1" dirty="0"/>
              <a:t> </a:t>
            </a:r>
            <a:r>
              <a:rPr lang="es-ES" sz="1200" b="1" dirty="0" err="1"/>
              <a:t>aprox</a:t>
            </a:r>
            <a:r>
              <a:rPr lang="es-ES" sz="1200" b="1" dirty="0"/>
              <a:t> </a:t>
            </a:r>
            <a:r>
              <a:rPr lang="es-ES" sz="1200" b="1" dirty="0" err="1"/>
              <a:t>L_pi_TM</a:t>
            </a:r>
            <a:r>
              <a:rPr lang="es-ES" sz="1200" dirty="0"/>
              <a:t>). Este tipo de diseño es especialmente importante en aplicaciones donde la polarización de la luz de entrada no está controlada o puede variar.</a:t>
            </a:r>
          </a:p>
          <a:p>
            <a:pPr algn="just"/>
            <a:endParaRPr lang="es-ES" sz="1200" dirty="0"/>
          </a:p>
        </p:txBody>
      </p:sp>
      <p:sp>
        <p:nvSpPr>
          <p:cNvPr id="7" name="object 16">
            <a:extLst>
              <a:ext uri="{FF2B5EF4-FFF2-40B4-BE49-F238E27FC236}">
                <a16:creationId xmlns:a16="http://schemas.microsoft.com/office/drawing/2014/main" id="{F44666F0-0B3A-61E2-6F46-445A082A458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spTree>
    <p:extLst>
      <p:ext uri="{BB962C8B-B14F-4D97-AF65-F5344CB8AC3E}">
        <p14:creationId xmlns:p14="http://schemas.microsoft.com/office/powerpoint/2010/main" val="1172920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f76bca3-140c-4d08-b44a-1dad11d2ba1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964CC2388606E4FAB26D10C89AC05DD" ma:contentTypeVersion="13" ma:contentTypeDescription="Crear nuevo documento." ma:contentTypeScope="" ma:versionID="483d6543de73f5fb1d76552cec7cbeb9">
  <xsd:schema xmlns:xsd="http://www.w3.org/2001/XMLSchema" xmlns:xs="http://www.w3.org/2001/XMLSchema" xmlns:p="http://schemas.microsoft.com/office/2006/metadata/properties" xmlns:ns3="6f76bca3-140c-4d08-b44a-1dad11d2ba1b" xmlns:ns4="bdfa4920-4a75-49f5-ae83-2f04d0a28bc5" targetNamespace="http://schemas.microsoft.com/office/2006/metadata/properties" ma:root="true" ma:fieldsID="98086e6c31ff8f986c29a49541ac5796" ns3:_="" ns4:_="">
    <xsd:import namespace="6f76bca3-140c-4d08-b44a-1dad11d2ba1b"/>
    <xsd:import namespace="bdfa4920-4a75-49f5-ae83-2f04d0a28bc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76bca3-140c-4d08-b44a-1dad11d2ba1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fa4920-4a75-49f5-ae83-2f04d0a28bc5"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2B0C3D-1D82-4193-BE7C-E07225200898}">
  <ds:schemaRefs>
    <ds:schemaRef ds:uri="http://purl.org/dc/terms/"/>
    <ds:schemaRef ds:uri="bdfa4920-4a75-49f5-ae83-2f04d0a28bc5"/>
    <ds:schemaRef ds:uri="http://purl.org/dc/elements/1.1/"/>
    <ds:schemaRef ds:uri="6f76bca3-140c-4d08-b44a-1dad11d2ba1b"/>
    <ds:schemaRef ds:uri="http://schemas.microsoft.com/office/2006/metadata/properties"/>
    <ds:schemaRef ds:uri="http://purl.org/dc/dcmitype/"/>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611386DE-ED0C-4FF1-AFEB-28A508EAD2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76bca3-140c-4d08-b44a-1dad11d2ba1b"/>
    <ds:schemaRef ds:uri="bdfa4920-4a75-49f5-ae83-2f04d0a28b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001983-6643-4F4B-A4AB-E022A3E66D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1773</TotalTime>
  <Words>5291</Words>
  <Application>Microsoft Office PowerPoint</Application>
  <PresentationFormat>Panorámica</PresentationFormat>
  <Paragraphs>258</Paragraphs>
  <Slides>27</Slides>
  <Notes>22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27</vt:i4>
      </vt:variant>
    </vt:vector>
  </HeadingPairs>
  <TitlesOfParts>
    <vt:vector size="35"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Presentación de PowerPoint</vt:lpstr>
      <vt:lpstr>Presentación de PowerPoint</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7.2? µm</vt:lpstr>
      <vt:lpstr>Extra #1 – Directional coupler gap dependence Wavelength 1.55 µm, width 1.0 µm, gap 0.2-2.4 µm (step 0.2 µm) </vt:lpstr>
      <vt:lpstr>Extra #1 – Directional coupler gap dependence Wavelength 1.55 µm, width 1.0 µm, gap 0.2-2.4 µm (step 0.2 µm) </vt:lpstr>
      <vt:lpstr>Presentación de PowerPoint</vt:lpstr>
      <vt:lpstr>Presentación de PowerPoint</vt:lpstr>
      <vt:lpstr>Extra #3 – MMI coupler wavelength dependence Wavelengths from 1.5 to 1.7 µm, wMMI = 6.6 µm</vt:lpstr>
      <vt:lpstr>Extra #3 – MMI coupler wavelength dependence Wavelengths from 1.5 to 1.7 µm, wMMI = 6.6 µm</vt:lpstr>
      <vt:lpstr>Presentación de PowerPoint</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Jaume Francesc Gimenez Lozano</cp:lastModifiedBy>
  <cp:revision>30</cp:revision>
  <dcterms:created xsi:type="dcterms:W3CDTF">2025-01-27T02:46:57Z</dcterms:created>
  <dcterms:modified xsi:type="dcterms:W3CDTF">2026-05-03T15:46:55Z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0x0101003964CC2388606E4FAB26D10C89AC05DD</vt:lpwstr>
  </property>
</Properties>
</file>